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jg/xVf2p4X3Myd5UjQ7AEo/iyqP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customschemas.google.com/relationships/presentationmetadata" Target="metadata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" name="Google Shape;3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0" name="Google Shape;31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9" name="Google Shape;33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F36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457200" y="1005840"/>
            <a:ext cx="8229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00"/>
              <a:buFont typeface="Calibri"/>
              <a:buNone/>
            </a:pPr>
            <a:r>
              <a:rPr b="1" i="0" lang="en-US" sz="6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TERROIR</a:t>
            </a:r>
            <a:endParaRPr b="0" i="0" sz="6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457200" y="1920240"/>
            <a:ext cx="3657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CCFBF1"/>
                </a:solidFill>
                <a:latin typeface="Calibri"/>
                <a:ea typeface="Calibri"/>
                <a:cs typeface="Calibri"/>
                <a:sym typeface="Calibri"/>
              </a:rPr>
              <a:t>BéninScope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457200" y="2331720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Veille sécuritaire territoriale · Bénin · Temps réel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457200" y="3246120"/>
            <a:ext cx="2468880" cy="960120"/>
          </a:xfrm>
          <a:prstGeom prst="rect">
            <a:avLst/>
          </a:prstGeom>
          <a:solidFill>
            <a:srgbClr val="252B45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566928" y="3310128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CCFBF1"/>
                </a:solidFill>
                <a:latin typeface="Calibri"/>
                <a:ea typeface="Calibri"/>
                <a:cs typeface="Calibri"/>
                <a:sym typeface="Calibri"/>
              </a:rPr>
              <a:t>31 529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566928" y="374904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événements GDELT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3246120" y="3246120"/>
            <a:ext cx="2468880" cy="960120"/>
          </a:xfrm>
          <a:prstGeom prst="rect">
            <a:avLst/>
          </a:prstGeom>
          <a:solidFill>
            <a:srgbClr val="252B45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3355848" y="3310128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CCFBF1"/>
                </a:solidFill>
                <a:latin typeface="Calibri"/>
                <a:ea typeface="Calibri"/>
                <a:cs typeface="Calibri"/>
                <a:sym typeface="Calibri"/>
              </a:rPr>
              <a:t>15 min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3355848" y="374904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latence maximale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6035040" y="3246120"/>
            <a:ext cx="2468880" cy="960120"/>
          </a:xfrm>
          <a:prstGeom prst="rect">
            <a:avLst/>
          </a:prstGeom>
          <a:solidFill>
            <a:srgbClr val="252B45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1"/>
          <p:cNvSpPr/>
          <p:nvPr/>
        </p:nvSpPr>
        <p:spPr>
          <a:xfrm>
            <a:off x="6144768" y="3310128"/>
            <a:ext cx="2286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CCFBF1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6144768" y="374904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départements couverts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457200" y="4474815"/>
            <a:ext cx="8229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Yaoitcha Rosine · Gbaguidi Adewale · Houndofi Jacques · Agboton Carine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0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A4055"/>
                </a:solidFill>
                <a:latin typeface="Calibri"/>
                <a:ea typeface="Calibri"/>
                <a:cs typeface="Calibri"/>
                <a:sym typeface="Calibri"/>
              </a:rPr>
              <a:t>iSHEERO × DataCamp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"/>
          <p:cNvSpPr/>
          <p:nvPr/>
        </p:nvSpPr>
        <p:spPr>
          <a:xfrm>
            <a:off x="457200" y="256032"/>
            <a:ext cx="1097280" cy="256032"/>
          </a:xfrm>
          <a:prstGeom prst="roundRect">
            <a:avLst>
              <a:gd fmla="val 17857" name="adj"/>
            </a:avLst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457200" y="274320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SOMMAIRE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Ce que vous allez voir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457200" y="1207008"/>
            <a:ext cx="3977640" cy="80467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457200" y="1207008"/>
            <a:ext cx="64008" cy="80467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621792" y="1261872"/>
            <a:ext cx="3840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1005840" y="1261872"/>
            <a:ext cx="3291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Le Problème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621792" y="1609344"/>
            <a:ext cx="37490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Le nord silencieux et les signaux manqués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457200" y="2093976"/>
            <a:ext cx="3977640" cy="80467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457200" y="2093976"/>
            <a:ext cx="64008" cy="80467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621792" y="2148840"/>
            <a:ext cx="3840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1005840" y="2148840"/>
            <a:ext cx="3291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Pourquoi les outils existants échouent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621792" y="2496312"/>
            <a:ext cx="37490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ACLED, rapports, systèmes commerciaux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457200" y="2980944"/>
            <a:ext cx="3977640" cy="80467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457200" y="2980944"/>
            <a:ext cx="64008" cy="80467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"/>
          <p:cNvSpPr/>
          <p:nvPr/>
        </p:nvSpPr>
        <p:spPr>
          <a:xfrm>
            <a:off x="621792" y="3035808"/>
            <a:ext cx="3840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1005840" y="3035808"/>
            <a:ext cx="3291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Notre Solution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621792" y="3383280"/>
            <a:ext cx="37490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TERROIR — architecture et fonctionnement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457200" y="3867912"/>
            <a:ext cx="3977640" cy="80467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2"/>
          <p:cNvSpPr/>
          <p:nvPr/>
        </p:nvSpPr>
        <p:spPr>
          <a:xfrm>
            <a:off x="457200" y="3867912"/>
            <a:ext cx="64008" cy="8046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2"/>
          <p:cNvSpPr/>
          <p:nvPr/>
        </p:nvSpPr>
        <p:spPr>
          <a:xfrm>
            <a:off x="621792" y="3922776"/>
            <a:ext cx="3840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1005840" y="3922776"/>
            <a:ext cx="3291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Signalement citoyen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621792" y="4270248"/>
            <a:ext cx="37490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Ce que la communauté voit — et apporte au STT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2"/>
          <p:cNvSpPr/>
          <p:nvPr/>
        </p:nvSpPr>
        <p:spPr>
          <a:xfrm>
            <a:off x="4754880" y="1207008"/>
            <a:ext cx="3977640" cy="80467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2"/>
          <p:cNvSpPr/>
          <p:nvPr/>
        </p:nvSpPr>
        <p:spPr>
          <a:xfrm>
            <a:off x="4754880" y="1207008"/>
            <a:ext cx="64008" cy="80467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2"/>
          <p:cNvSpPr/>
          <p:nvPr/>
        </p:nvSpPr>
        <p:spPr>
          <a:xfrm>
            <a:off x="4919472" y="1261872"/>
            <a:ext cx="3840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2"/>
          <p:cNvSpPr/>
          <p:nvPr/>
        </p:nvSpPr>
        <p:spPr>
          <a:xfrm>
            <a:off x="5303520" y="1261872"/>
            <a:ext cx="3291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Insights données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2"/>
          <p:cNvSpPr/>
          <p:nvPr/>
        </p:nvSpPr>
        <p:spPr>
          <a:xfrm>
            <a:off x="4919472" y="1609344"/>
            <a:ext cx="37490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Ce que les données GDELT révèlent vraiment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4754880" y="2093976"/>
            <a:ext cx="3977640" cy="80467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2"/>
          <p:cNvSpPr/>
          <p:nvPr/>
        </p:nvSpPr>
        <p:spPr>
          <a:xfrm>
            <a:off x="4754880" y="2093976"/>
            <a:ext cx="64008" cy="80467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2"/>
          <p:cNvSpPr/>
          <p:nvPr/>
        </p:nvSpPr>
        <p:spPr>
          <a:xfrm>
            <a:off x="4919472" y="2148840"/>
            <a:ext cx="3840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5303520" y="2148840"/>
            <a:ext cx="3291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La Démo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2"/>
          <p:cNvSpPr/>
          <p:nvPr/>
        </p:nvSpPr>
        <p:spPr>
          <a:xfrm>
            <a:off x="4919472" y="2496312"/>
            <a:ext cx="37490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Carte live · Score de tension · Alertes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4754880" y="2980944"/>
            <a:ext cx="3977640" cy="804672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2"/>
          <p:cNvSpPr/>
          <p:nvPr/>
        </p:nvSpPr>
        <p:spPr>
          <a:xfrm>
            <a:off x="4754880" y="2980944"/>
            <a:ext cx="64008" cy="80467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2"/>
          <p:cNvSpPr/>
          <p:nvPr/>
        </p:nvSpPr>
        <p:spPr>
          <a:xfrm>
            <a:off x="4919472" y="3035808"/>
            <a:ext cx="38404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2"/>
          <p:cNvSpPr/>
          <p:nvPr/>
        </p:nvSpPr>
        <p:spPr>
          <a:xfrm>
            <a:off x="5303520" y="3035808"/>
            <a:ext cx="3291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Roadmap &amp; Impact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4919472" y="3383280"/>
            <a:ext cx="37490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Ce qu'on construit ensuite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2"/>
          <p:cNvSpPr/>
          <p:nvPr/>
        </p:nvSpPr>
        <p:spPr>
          <a:xfrm>
            <a:off x="457200" y="477316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BéninScope · TERROIR · iSHEERO × DataCamp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2"/>
          <p:cNvSpPr/>
          <p:nvPr/>
        </p:nvSpPr>
        <p:spPr>
          <a:xfrm>
            <a:off x="8412480" y="4773168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2 / 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"/>
          <p:cNvSpPr/>
          <p:nvPr/>
        </p:nvSpPr>
        <p:spPr>
          <a:xfrm>
            <a:off x="457200" y="256032"/>
            <a:ext cx="1828800" cy="256032"/>
          </a:xfrm>
          <a:prstGeom prst="roundRect">
            <a:avLst>
              <a:gd fmla="val 17857" name="adj"/>
            </a:avLst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3"/>
          <p:cNvSpPr/>
          <p:nvPr/>
        </p:nvSpPr>
        <p:spPr>
          <a:xfrm>
            <a:off x="457200" y="274320"/>
            <a:ext cx="1828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 — LE PROBLÈME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Le nord du Bénin est sous tension. Personne ne le surveille.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411480" y="1325880"/>
            <a:ext cx="1965960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3"/>
          <p:cNvSpPr/>
          <p:nvPr/>
        </p:nvSpPr>
        <p:spPr>
          <a:xfrm>
            <a:off x="411480" y="1325880"/>
            <a:ext cx="64008" cy="10515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3"/>
          <p:cNvSpPr/>
          <p:nvPr/>
        </p:nvSpPr>
        <p:spPr>
          <a:xfrm>
            <a:off x="576072" y="1453896"/>
            <a:ext cx="1764792" cy="525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4 %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576072" y="1893722"/>
            <a:ext cx="1764792" cy="39959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 la couverture médiatique internationale attribuée au nord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2496312" y="1325880"/>
            <a:ext cx="1965960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3"/>
          <p:cNvSpPr/>
          <p:nvPr/>
        </p:nvSpPr>
        <p:spPr>
          <a:xfrm>
            <a:off x="2496312" y="1325880"/>
            <a:ext cx="64008" cy="10515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3"/>
          <p:cNvSpPr/>
          <p:nvPr/>
        </p:nvSpPr>
        <p:spPr>
          <a:xfrm>
            <a:off x="2660904" y="1453896"/>
            <a:ext cx="1764792" cy="525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−4,10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2660904" y="1893722"/>
            <a:ext cx="1764792" cy="39959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ton médiatique nord  ·  4× plus négatif que le sud (−1,09)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4581144" y="1325880"/>
            <a:ext cx="1965960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"/>
          <p:cNvSpPr/>
          <p:nvPr/>
        </p:nvSpPr>
        <p:spPr>
          <a:xfrm>
            <a:off x="4581144" y="1325880"/>
            <a:ext cx="64008" cy="1051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"/>
          <p:cNvSpPr/>
          <p:nvPr/>
        </p:nvSpPr>
        <p:spPr>
          <a:xfrm>
            <a:off x="4745736" y="1453896"/>
            <a:ext cx="1764792" cy="525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25 %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4745736" y="1893722"/>
            <a:ext cx="1764792" cy="39959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d'événements sécuritaires écrasent 100 % du ton perçu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6665976" y="1325880"/>
            <a:ext cx="1965960" cy="10515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"/>
          <p:cNvSpPr/>
          <p:nvPr/>
        </p:nvSpPr>
        <p:spPr>
          <a:xfrm>
            <a:off x="6665976" y="1325880"/>
            <a:ext cx="64008" cy="1051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"/>
          <p:cNvSpPr/>
          <p:nvPr/>
        </p:nvSpPr>
        <p:spPr>
          <a:xfrm>
            <a:off x="6830568" y="1453896"/>
            <a:ext cx="1764792" cy="525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22 %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6830568" y="1893722"/>
            <a:ext cx="1764792" cy="39959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des sources proviennent du Nigeria — le Bénin vu de Lagos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411480" y="2606040"/>
            <a:ext cx="8321040" cy="777240"/>
          </a:xfrm>
          <a:prstGeom prst="rect">
            <a:avLst/>
          </a:prstGeom>
          <a:solidFill>
            <a:srgbClr val="FEF2F2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"/>
          <p:cNvSpPr/>
          <p:nvPr/>
        </p:nvSpPr>
        <p:spPr>
          <a:xfrm>
            <a:off x="411480" y="2606040"/>
            <a:ext cx="64008" cy="77724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"/>
          <p:cNvSpPr/>
          <p:nvPr/>
        </p:nvSpPr>
        <p:spPr>
          <a:xfrm>
            <a:off x="594360" y="2651760"/>
            <a:ext cx="80467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Quand le nord est couvert, c'est quasi exclusivement pour un incident négatif.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Les signaux existent dans GDELT (mis à jour toutes les 15 min). Ils ne sont ni agrégés, ni localisés, ni mis en relation avec le terrain.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"/>
          <p:cNvSpPr/>
          <p:nvPr/>
        </p:nvSpPr>
        <p:spPr>
          <a:xfrm>
            <a:off x="411480" y="3547872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Le paradoxe Goldstein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411480" y="3803904"/>
            <a:ext cx="393192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11 mois/12, le ton médiatique est négatif — pourtant le score Goldstein est positif. Les médias noircissent des faits coopératifs. Le biais de sélection est structurel, pas conjoncturel.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4572000" y="3547872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3 jours ont structuré 2025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4572000" y="3803904"/>
            <a:ext cx="41148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3 pics (10 jan · 17 avr · 7 déc) ont concentré l'essentiel de la couverture. Chaque pic s'étale sur 3 jours dans le volume — mais leurs précurseurs médiatiques sont détectables en amont à 15 min d'intervalle.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457200" y="477316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BéninScope · TERROIR · iSHEERO × DataCamp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8412480" y="4773168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3 / 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"/>
          <p:cNvSpPr/>
          <p:nvPr/>
        </p:nvSpPr>
        <p:spPr>
          <a:xfrm>
            <a:off x="457200" y="256032"/>
            <a:ext cx="1828800" cy="256032"/>
          </a:xfrm>
          <a:prstGeom prst="roundRect">
            <a:avLst>
              <a:gd fmla="val 17857" name="adj"/>
            </a:avLst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"/>
          <p:cNvSpPr/>
          <p:nvPr/>
        </p:nvSpPr>
        <p:spPr>
          <a:xfrm>
            <a:off x="457200" y="274320"/>
            <a:ext cx="1828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 — CONCURRENCE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Les outils existants arrivent trop tard — ou trop chers.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411480" y="1234440"/>
            <a:ext cx="3840480" cy="1078992"/>
          </a:xfrm>
          <a:prstGeom prst="rect">
            <a:avLst/>
          </a:prstGeom>
          <a:solidFill>
            <a:srgbClr val="FEF2F2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"/>
          <p:cNvSpPr/>
          <p:nvPr/>
        </p:nvSpPr>
        <p:spPr>
          <a:xfrm>
            <a:off x="411480" y="1234440"/>
            <a:ext cx="64008" cy="107899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"/>
          <p:cNvSpPr/>
          <p:nvPr/>
        </p:nvSpPr>
        <p:spPr>
          <a:xfrm>
            <a:off x="594360" y="1307592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ACLED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594360" y="1581912"/>
            <a:ext cx="35661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Enregistre les incidents violents après qu'ils se produisent. Utile pour l'analyse historique — inutile pour la décision terrain en 24h.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4480560" y="1234440"/>
            <a:ext cx="4297680" cy="1078992"/>
          </a:xfrm>
          <a:prstGeom prst="rect">
            <a:avLst/>
          </a:prstGeom>
          <a:solidFill>
            <a:srgbClr val="F0FDF4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"/>
          <p:cNvSpPr/>
          <p:nvPr/>
        </p:nvSpPr>
        <p:spPr>
          <a:xfrm>
            <a:off x="4480560" y="1234440"/>
            <a:ext cx="64008" cy="10789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"/>
          <p:cNvSpPr/>
          <p:nvPr/>
        </p:nvSpPr>
        <p:spPr>
          <a:xfrm>
            <a:off x="4663440" y="1307592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TERROIR fait différemment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4663440" y="1581912"/>
            <a:ext cx="40233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TERROIR détecte les précurseurs médiatiques dans la fenêtre pré-incident. Complémentaires, pas concurrents.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411480" y="2468880"/>
            <a:ext cx="3840480" cy="1078992"/>
          </a:xfrm>
          <a:prstGeom prst="rect">
            <a:avLst/>
          </a:prstGeom>
          <a:solidFill>
            <a:srgbClr val="FEF2F2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"/>
          <p:cNvSpPr/>
          <p:nvPr/>
        </p:nvSpPr>
        <p:spPr>
          <a:xfrm>
            <a:off x="411480" y="2468880"/>
            <a:ext cx="64008" cy="107899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"/>
          <p:cNvSpPr/>
          <p:nvPr/>
        </p:nvSpPr>
        <p:spPr>
          <a:xfrm>
            <a:off x="594360" y="2542032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Rapports institutionnels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594360" y="2816352"/>
            <a:ext cx="35661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Hebdomadaires ou mensuels. Une ONG en situation d'urgence ne peut pas attendre 7 jours.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4480560" y="2468880"/>
            <a:ext cx="4297680" cy="1078992"/>
          </a:xfrm>
          <a:prstGeom prst="rect">
            <a:avLst/>
          </a:prstGeom>
          <a:solidFill>
            <a:srgbClr val="F0FDF4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"/>
          <p:cNvSpPr/>
          <p:nvPr/>
        </p:nvSpPr>
        <p:spPr>
          <a:xfrm>
            <a:off x="4480560" y="2468880"/>
            <a:ext cx="64008" cy="10789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4"/>
          <p:cNvSpPr/>
          <p:nvPr/>
        </p:nvSpPr>
        <p:spPr>
          <a:xfrm>
            <a:off x="4663440" y="2542032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TERROIR fait différemment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4663440" y="2816352"/>
            <a:ext cx="40233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Mise à jour toutes les 15 min. Signal dans les 48h. Pas dans 7 jours.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411480" y="3703320"/>
            <a:ext cx="3840480" cy="1078992"/>
          </a:xfrm>
          <a:prstGeom prst="rect">
            <a:avLst/>
          </a:prstGeom>
          <a:solidFill>
            <a:srgbClr val="FEF2F2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4"/>
          <p:cNvSpPr/>
          <p:nvPr/>
        </p:nvSpPr>
        <p:spPr>
          <a:xfrm>
            <a:off x="411480" y="3703320"/>
            <a:ext cx="64008" cy="107899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4"/>
          <p:cNvSpPr/>
          <p:nvPr/>
        </p:nvSpPr>
        <p:spPr>
          <a:xfrm>
            <a:off x="594360" y="3776472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Dataminr · ICEWS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594360" y="4050792"/>
            <a:ext cx="35661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Conçus pour les gouvernements et armées occidentales. Non calibrés pour l'Afrique de l'Ouest. Inaccessibles financièrement.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4480560" y="3703320"/>
            <a:ext cx="4297680" cy="1078992"/>
          </a:xfrm>
          <a:prstGeom prst="rect">
            <a:avLst/>
          </a:prstGeom>
          <a:solidFill>
            <a:srgbClr val="F0FDF4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4"/>
          <p:cNvSpPr/>
          <p:nvPr/>
        </p:nvSpPr>
        <p:spPr>
          <a:xfrm>
            <a:off x="4480560" y="3703320"/>
            <a:ext cx="64008" cy="10789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4"/>
          <p:cNvSpPr/>
          <p:nvPr/>
        </p:nvSpPr>
        <p:spPr>
          <a:xfrm>
            <a:off x="4663440" y="3776472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TERROIR fait différemment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4663440" y="4050792"/>
            <a:ext cx="40233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Open source. Calibré sur les dynamiques médiatiques locales. Accessible pour une ONG à budget limité.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457200" y="477316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BéninScope · TERROIR · iSHEERO × DataCamp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8412480" y="4773168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4 / 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"/>
          <p:cNvSpPr/>
          <p:nvPr/>
        </p:nvSpPr>
        <p:spPr>
          <a:xfrm>
            <a:off x="457200" y="256032"/>
            <a:ext cx="2103120" cy="256032"/>
          </a:xfrm>
          <a:prstGeom prst="roundRect">
            <a:avLst>
              <a:gd fmla="val 17857" name="adj"/>
            </a:avLst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5"/>
          <p:cNvSpPr/>
          <p:nvPr/>
        </p:nvSpPr>
        <p:spPr>
          <a:xfrm>
            <a:off x="457200" y="274320"/>
            <a:ext cx="21031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 — NOTRE SOLUTION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TERROIR surveille. Vous décidez.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365760" y="1207008"/>
            <a:ext cx="1463040" cy="1234440"/>
          </a:xfrm>
          <a:prstGeom prst="rect">
            <a:avLst/>
          </a:prstGeom>
          <a:solidFill>
            <a:srgbClr val="EFF6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5"/>
          <p:cNvSpPr/>
          <p:nvPr/>
        </p:nvSpPr>
        <p:spPr>
          <a:xfrm>
            <a:off x="365760" y="1207008"/>
            <a:ext cx="1463040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5"/>
          <p:cNvSpPr/>
          <p:nvPr/>
        </p:nvSpPr>
        <p:spPr>
          <a:xfrm>
            <a:off x="365760" y="1298448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365760" y="1572768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GDELT live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365760" y="1847088"/>
            <a:ext cx="1463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Médias mondiaux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toutes les 15 min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1828800" y="1645920"/>
            <a:ext cx="228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5"/>
          <p:cNvSpPr/>
          <p:nvPr/>
        </p:nvSpPr>
        <p:spPr>
          <a:xfrm>
            <a:off x="2057400" y="1207008"/>
            <a:ext cx="1463040" cy="1234440"/>
          </a:xfrm>
          <a:prstGeom prst="rect">
            <a:avLst/>
          </a:prstGeom>
          <a:solidFill>
            <a:srgbClr val="EFF6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5"/>
          <p:cNvSpPr/>
          <p:nvPr/>
        </p:nvSpPr>
        <p:spPr>
          <a:xfrm>
            <a:off x="2057400" y="1207008"/>
            <a:ext cx="1463040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5"/>
          <p:cNvSpPr/>
          <p:nvPr/>
        </p:nvSpPr>
        <p:spPr>
          <a:xfrm>
            <a:off x="2057400" y="1298448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2057400" y="1572768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Signalements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2057400" y="1847088"/>
            <a:ext cx="1463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Citoyens + ONG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géolocalisés GPS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3520440" y="1645920"/>
            <a:ext cx="228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3749040" y="1207008"/>
            <a:ext cx="1463040" cy="1234440"/>
          </a:xfrm>
          <a:prstGeom prst="rect">
            <a:avLst/>
          </a:prstGeom>
          <a:solidFill>
            <a:srgbClr val="F0FDF4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5"/>
          <p:cNvSpPr/>
          <p:nvPr/>
        </p:nvSpPr>
        <p:spPr>
          <a:xfrm>
            <a:off x="3749040" y="1207008"/>
            <a:ext cx="1463040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5"/>
          <p:cNvSpPr/>
          <p:nvPr/>
        </p:nvSpPr>
        <p:spPr>
          <a:xfrm>
            <a:off x="3749040" y="1298448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3749040" y="1572768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Carte live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3749040" y="1847088"/>
            <a:ext cx="1463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Un seul tableau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 bord unifié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5212080" y="1645920"/>
            <a:ext cx="228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5"/>
          <p:cNvSpPr/>
          <p:nvPr/>
        </p:nvSpPr>
        <p:spPr>
          <a:xfrm>
            <a:off x="5440680" y="1207008"/>
            <a:ext cx="1463040" cy="1234440"/>
          </a:xfrm>
          <a:prstGeom prst="rect">
            <a:avLst/>
          </a:prstGeom>
          <a:solidFill>
            <a:srgbClr val="F0FDF4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5"/>
          <p:cNvSpPr/>
          <p:nvPr/>
        </p:nvSpPr>
        <p:spPr>
          <a:xfrm>
            <a:off x="5440680" y="1207008"/>
            <a:ext cx="1463040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5"/>
          <p:cNvSpPr/>
          <p:nvPr/>
        </p:nvSpPr>
        <p:spPr>
          <a:xfrm>
            <a:off x="5440680" y="1298448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5440680" y="1572768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Score STT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5440680" y="1847088"/>
            <a:ext cx="1463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Par département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fenêtre 14j vs 90j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6903720" y="1645920"/>
            <a:ext cx="228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5"/>
          <p:cNvSpPr/>
          <p:nvPr/>
        </p:nvSpPr>
        <p:spPr>
          <a:xfrm>
            <a:off x="7132320" y="1207008"/>
            <a:ext cx="1463040" cy="1234440"/>
          </a:xfrm>
          <a:prstGeom prst="rect">
            <a:avLst/>
          </a:prstGeom>
          <a:solidFill>
            <a:srgbClr val="FEF2F2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5"/>
          <p:cNvSpPr/>
          <p:nvPr/>
        </p:nvSpPr>
        <p:spPr>
          <a:xfrm>
            <a:off x="7132320" y="1207008"/>
            <a:ext cx="1463040" cy="640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5"/>
          <p:cNvSpPr/>
          <p:nvPr/>
        </p:nvSpPr>
        <p:spPr>
          <a:xfrm>
            <a:off x="7132320" y="1298448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5"/>
          <p:cNvSpPr/>
          <p:nvPr/>
        </p:nvSpPr>
        <p:spPr>
          <a:xfrm>
            <a:off x="7132320" y="1572768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Alerte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5"/>
          <p:cNvSpPr/>
          <p:nvPr/>
        </p:nvSpPr>
        <p:spPr>
          <a:xfrm>
            <a:off x="7132320" y="1847088"/>
            <a:ext cx="1463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Zone · score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recommandation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5"/>
          <p:cNvSpPr/>
          <p:nvPr/>
        </p:nvSpPr>
        <p:spPr>
          <a:xfrm>
            <a:off x="411480" y="2633472"/>
            <a:ext cx="502920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5"/>
          <p:cNvSpPr/>
          <p:nvPr/>
        </p:nvSpPr>
        <p:spPr>
          <a:xfrm>
            <a:off x="411480" y="2633472"/>
            <a:ext cx="64008" cy="13716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5"/>
          <p:cNvSpPr/>
          <p:nvPr/>
        </p:nvSpPr>
        <p:spPr>
          <a:xfrm>
            <a:off x="594360" y="2697480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Score de Tension Territorial (STT)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5"/>
          <p:cNvSpPr/>
          <p:nvPr/>
        </p:nvSpPr>
        <p:spPr>
          <a:xfrm>
            <a:off x="594360" y="3017520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0D9488"/>
                </a:solidFill>
                <a:latin typeface="Consolas"/>
                <a:ea typeface="Consolas"/>
                <a:cs typeface="Consolas"/>
                <a:sym typeface="Consolas"/>
              </a:rPr>
              <a:t>STT = 0,40 × z_cameo + 0,35 × z_tone + 0,15 × z_volume + 0,10 × z_sources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5"/>
          <p:cNvSpPr/>
          <p:nvPr/>
        </p:nvSpPr>
        <p:spPr>
          <a:xfrm>
            <a:off x="594360" y="3337560"/>
            <a:ext cx="47548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z_cameo (40 %) justifié : 25 % des événements sécuritaires écrasent 100 % du ton perçu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z_tone (35 %) justifié : gradient 3,8× nord/sud · fenêtre 14j vs baseline 90j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5"/>
          <p:cNvSpPr/>
          <p:nvPr/>
        </p:nvSpPr>
        <p:spPr>
          <a:xfrm>
            <a:off x="5669280" y="2633472"/>
            <a:ext cx="3063240" cy="1371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5"/>
          <p:cNvSpPr/>
          <p:nvPr/>
        </p:nvSpPr>
        <p:spPr>
          <a:xfrm>
            <a:off x="5760720" y="2706624"/>
            <a:ext cx="2834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Niveaux d'alerte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5"/>
          <p:cNvSpPr/>
          <p:nvPr/>
        </p:nvSpPr>
        <p:spPr>
          <a:xfrm>
            <a:off x="5715000" y="3017520"/>
            <a:ext cx="640080" cy="24688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5"/>
          <p:cNvSpPr/>
          <p:nvPr/>
        </p:nvSpPr>
        <p:spPr>
          <a:xfrm>
            <a:off x="5715000" y="3017520"/>
            <a:ext cx="6400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&lt; 2,0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5"/>
          <p:cNvSpPr/>
          <p:nvPr/>
        </p:nvSpPr>
        <p:spPr>
          <a:xfrm>
            <a:off x="6419088" y="3017520"/>
            <a:ext cx="21945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Normal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5"/>
          <p:cNvSpPr/>
          <p:nvPr/>
        </p:nvSpPr>
        <p:spPr>
          <a:xfrm>
            <a:off x="5715000" y="3328416"/>
            <a:ext cx="640080" cy="24688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5"/>
          <p:cNvSpPr/>
          <p:nvPr/>
        </p:nvSpPr>
        <p:spPr>
          <a:xfrm>
            <a:off x="5715000" y="3328416"/>
            <a:ext cx="6400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2,0 – 3,0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5"/>
          <p:cNvSpPr/>
          <p:nvPr/>
        </p:nvSpPr>
        <p:spPr>
          <a:xfrm>
            <a:off x="6419088" y="3328416"/>
            <a:ext cx="21945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Précaution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5"/>
          <p:cNvSpPr/>
          <p:nvPr/>
        </p:nvSpPr>
        <p:spPr>
          <a:xfrm>
            <a:off x="5715000" y="3639312"/>
            <a:ext cx="640080" cy="24688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5"/>
          <p:cNvSpPr/>
          <p:nvPr/>
        </p:nvSpPr>
        <p:spPr>
          <a:xfrm>
            <a:off x="5715000" y="3639312"/>
            <a:ext cx="64008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&gt; 3,0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5"/>
          <p:cNvSpPr/>
          <p:nvPr/>
        </p:nvSpPr>
        <p:spPr>
          <a:xfrm>
            <a:off x="6419088" y="3639312"/>
            <a:ext cx="219456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Alerte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5"/>
          <p:cNvSpPr/>
          <p:nvPr/>
        </p:nvSpPr>
        <p:spPr>
          <a:xfrm>
            <a:off x="457200" y="477316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BéninScope · TERROIR · iSHEERO × DataCamp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5"/>
          <p:cNvSpPr/>
          <p:nvPr/>
        </p:nvSpPr>
        <p:spPr>
          <a:xfrm>
            <a:off x="8412480" y="4773168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5 / 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6"/>
          <p:cNvSpPr/>
          <p:nvPr/>
        </p:nvSpPr>
        <p:spPr>
          <a:xfrm>
            <a:off x="457200" y="256032"/>
            <a:ext cx="2560320" cy="256032"/>
          </a:xfrm>
          <a:prstGeom prst="roundRect">
            <a:avLst>
              <a:gd fmla="val 17857" name="adj"/>
            </a:avLst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6"/>
          <p:cNvSpPr/>
          <p:nvPr/>
        </p:nvSpPr>
        <p:spPr>
          <a:xfrm>
            <a:off x="457200" y="274320"/>
            <a:ext cx="25603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 — SIGNALEMENT CITOYEN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6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La communauté voit ce que GDELT ne voit pas.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6"/>
          <p:cNvSpPr/>
          <p:nvPr/>
        </p:nvSpPr>
        <p:spPr>
          <a:xfrm>
            <a:off x="411480" y="1170432"/>
            <a:ext cx="2651760" cy="35661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6"/>
          <p:cNvSpPr/>
          <p:nvPr/>
        </p:nvSpPr>
        <p:spPr>
          <a:xfrm>
            <a:off x="411480" y="1170432"/>
            <a:ext cx="64008" cy="35661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6"/>
          <p:cNvSpPr/>
          <p:nvPr/>
        </p:nvSpPr>
        <p:spPr>
          <a:xfrm>
            <a:off x="566928" y="1243584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Le vide de GDELT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6"/>
          <p:cNvSpPr/>
          <p:nvPr/>
        </p:nvSpPr>
        <p:spPr>
          <a:xfrm>
            <a:off x="566928" y="1627632"/>
            <a:ext cx="242316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60–70 % des événements : centroïde générique (9,31°N · 2,32°E)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6"/>
          <p:cNvSpPr/>
          <p:nvPr/>
        </p:nvSpPr>
        <p:spPr>
          <a:xfrm>
            <a:off x="566928" y="2194560"/>
            <a:ext cx="242316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Radio locale, marché, piste rurale non indexés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6"/>
          <p:cNvSpPr/>
          <p:nvPr/>
        </p:nvSpPr>
        <p:spPr>
          <a:xfrm>
            <a:off x="566928" y="2761488"/>
            <a:ext cx="242316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Délai source → GDELT : 15–60 min minimum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6"/>
          <p:cNvSpPr/>
          <p:nvPr/>
        </p:nvSpPr>
        <p:spPr>
          <a:xfrm>
            <a:off x="566928" y="3328416"/>
            <a:ext cx="242316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Ce que les médias couvrent ≠ ce que les gens vivent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6"/>
          <p:cNvSpPr/>
          <p:nvPr/>
        </p:nvSpPr>
        <p:spPr>
          <a:xfrm>
            <a:off x="566928" y="3895344"/>
            <a:ext cx="2423160" cy="493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Zones frontalières nord : les moins couvertes, les plus sensibles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6"/>
          <p:cNvSpPr/>
          <p:nvPr/>
        </p:nvSpPr>
        <p:spPr>
          <a:xfrm>
            <a:off x="3246120" y="1170432"/>
            <a:ext cx="2743200" cy="35661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6"/>
          <p:cNvSpPr/>
          <p:nvPr/>
        </p:nvSpPr>
        <p:spPr>
          <a:xfrm>
            <a:off x="3246120" y="1170432"/>
            <a:ext cx="64008" cy="35661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6"/>
          <p:cNvSpPr/>
          <p:nvPr/>
        </p:nvSpPr>
        <p:spPr>
          <a:xfrm>
            <a:off x="3401568" y="1243584"/>
            <a:ext cx="2514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Ce que le formulaire capture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6"/>
          <p:cNvSpPr/>
          <p:nvPr/>
        </p:nvSpPr>
        <p:spPr>
          <a:xfrm>
            <a:off x="3401568" y="1609344"/>
            <a:ext cx="2514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Type d'événement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6"/>
          <p:cNvSpPr/>
          <p:nvPr/>
        </p:nvSpPr>
        <p:spPr>
          <a:xfrm>
            <a:off x="3401568" y="1828800"/>
            <a:ext cx="25146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Agression · Violence · Menace · Vol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Tension communautaire · Manifestation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Déplacement inhabituel · Autre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6"/>
          <p:cNvSpPr/>
          <p:nvPr/>
        </p:nvSpPr>
        <p:spPr>
          <a:xfrm>
            <a:off x="3401568" y="2377440"/>
            <a:ext cx="2514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Localisation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6"/>
          <p:cNvSpPr/>
          <p:nvPr/>
        </p:nvSpPr>
        <p:spPr>
          <a:xfrm>
            <a:off x="3401568" y="2596896"/>
            <a:ext cx="25146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GPS automatique ou coordonnées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manuelles — validées dans la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bounding box Bénin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6"/>
          <p:cNvSpPr/>
          <p:nvPr/>
        </p:nvSpPr>
        <p:spPr>
          <a:xfrm>
            <a:off x="3401568" y="3145536"/>
            <a:ext cx="2514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Profil déclarant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6"/>
          <p:cNvSpPr/>
          <p:nvPr/>
        </p:nvSpPr>
        <p:spPr>
          <a:xfrm>
            <a:off x="3401568" y="3364992"/>
            <a:ext cx="25146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Citoyen · ONG · Journaliste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Autorité locale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6"/>
          <p:cNvSpPr/>
          <p:nvPr/>
        </p:nvSpPr>
        <p:spPr>
          <a:xfrm>
            <a:off x="3401568" y="3913632"/>
            <a:ext cx="2514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Confidentialité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6"/>
          <p:cNvSpPr/>
          <p:nvPr/>
        </p:nvSpPr>
        <p:spPr>
          <a:xfrm>
            <a:off x="3401568" y="4133088"/>
            <a:ext cx="25146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Contact jamais affiché publiquement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Signalement anonyme possible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6"/>
          <p:cNvSpPr/>
          <p:nvPr/>
        </p:nvSpPr>
        <p:spPr>
          <a:xfrm>
            <a:off x="6172200" y="1170432"/>
            <a:ext cx="2560320" cy="3566160"/>
          </a:xfrm>
          <a:prstGeom prst="rect">
            <a:avLst/>
          </a:prstGeom>
          <a:solidFill>
            <a:srgbClr val="F0FDF4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6"/>
          <p:cNvSpPr/>
          <p:nvPr/>
        </p:nvSpPr>
        <p:spPr>
          <a:xfrm>
            <a:off x="6172200" y="1170432"/>
            <a:ext cx="64008" cy="35661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6"/>
          <p:cNvSpPr/>
          <p:nvPr/>
        </p:nvSpPr>
        <p:spPr>
          <a:xfrm>
            <a:off x="6327648" y="1243584"/>
            <a:ext cx="2331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Pourquoi c'est puissant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6"/>
          <p:cNvSpPr/>
          <p:nvPr/>
        </p:nvSpPr>
        <p:spPr>
          <a:xfrm>
            <a:off x="6327648" y="1609344"/>
            <a:ext cx="2331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Validation croisée automatique</a:t>
            </a:r>
            <a:endParaRPr b="1" sz="900">
              <a:solidFill>
                <a:srgbClr val="10B98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6"/>
          <p:cNvSpPr/>
          <p:nvPr/>
        </p:nvSpPr>
        <p:spPr>
          <a:xfrm>
            <a:off x="6327648" y="1828800"/>
            <a:ext cx="23317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Signal GDELT + signalement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dans un rayon 50 km / 24h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→ crédibilité ×2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6"/>
          <p:cNvSpPr/>
          <p:nvPr/>
        </p:nvSpPr>
        <p:spPr>
          <a:xfrm>
            <a:off x="6327648" y="2377440"/>
            <a:ext cx="2331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Contribue au STT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6"/>
          <p:cNvSpPr/>
          <p:nvPr/>
        </p:nvSpPr>
        <p:spPr>
          <a:xfrm>
            <a:off x="6327648" y="2596896"/>
            <a:ext cx="23317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Un signalement validé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pèse dans le score de tension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du département concerné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6"/>
          <p:cNvSpPr/>
          <p:nvPr/>
        </p:nvSpPr>
        <p:spPr>
          <a:xfrm>
            <a:off x="6327648" y="3145536"/>
            <a:ext cx="2331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Zones prioritaires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6"/>
          <p:cNvSpPr/>
          <p:nvPr/>
        </p:nvSpPr>
        <p:spPr>
          <a:xfrm>
            <a:off x="6327648" y="3364992"/>
            <a:ext cx="23317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Alibori · Atacora · Borgou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Donga — signalements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activement sollicités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6"/>
          <p:cNvSpPr/>
          <p:nvPr/>
        </p:nvSpPr>
        <p:spPr>
          <a:xfrm>
            <a:off x="6327648" y="3913632"/>
            <a:ext cx="2331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Transparence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6"/>
          <p:cNvSpPr/>
          <p:nvPr/>
        </p:nvSpPr>
        <p:spPr>
          <a:xfrm>
            <a:off x="6327648" y="4133088"/>
            <a:ext cx="23317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Statut non vérifié → vérifié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Visible sur la carte dès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50"/>
              <a:buFont typeface="Calibri"/>
              <a:buNone/>
            </a:pPr>
            <a:r>
              <a:rPr b="0" i="0" lang="en-US" sz="8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la soumission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6"/>
          <p:cNvSpPr/>
          <p:nvPr/>
        </p:nvSpPr>
        <p:spPr>
          <a:xfrm>
            <a:off x="457200" y="4892040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BéninScope · TERROIR · iSHEERO × DataCamp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6"/>
          <p:cNvSpPr/>
          <p:nvPr/>
        </p:nvSpPr>
        <p:spPr>
          <a:xfrm>
            <a:off x="8412480" y="4892040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6 / 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7"/>
          <p:cNvSpPr/>
          <p:nvPr/>
        </p:nvSpPr>
        <p:spPr>
          <a:xfrm>
            <a:off x="457200" y="256032"/>
            <a:ext cx="2286000" cy="256032"/>
          </a:xfrm>
          <a:prstGeom prst="roundRect">
            <a:avLst>
              <a:gd fmla="val 17857" name="adj"/>
            </a:avLst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7"/>
          <p:cNvSpPr/>
          <p:nvPr/>
        </p:nvSpPr>
        <p:spPr>
          <a:xfrm>
            <a:off x="457200" y="274320"/>
            <a:ext cx="2286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 — INSIGHTS DONNÉES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7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Ce que les données GDELT révèlent — et justifient nos choix.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7"/>
          <p:cNvSpPr/>
          <p:nvPr/>
        </p:nvSpPr>
        <p:spPr>
          <a:xfrm>
            <a:off x="411480" y="1188720"/>
            <a:ext cx="4114800" cy="111556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7"/>
          <p:cNvSpPr/>
          <p:nvPr/>
        </p:nvSpPr>
        <p:spPr>
          <a:xfrm>
            <a:off x="411480" y="1188720"/>
            <a:ext cx="64008" cy="11155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7"/>
          <p:cNvSpPr/>
          <p:nvPr/>
        </p:nvSpPr>
        <p:spPr>
          <a:xfrm>
            <a:off x="576072" y="1261872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11/12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7"/>
          <p:cNvSpPr/>
          <p:nvPr/>
        </p:nvSpPr>
        <p:spPr>
          <a:xfrm>
            <a:off x="576072" y="162763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mois négatifs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7"/>
          <p:cNvSpPr/>
          <p:nvPr/>
        </p:nvSpPr>
        <p:spPr>
          <a:xfrm>
            <a:off x="1709928" y="1261872"/>
            <a:ext cx="2697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Ton négatif structurel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7"/>
          <p:cNvSpPr/>
          <p:nvPr/>
        </p:nvSpPr>
        <p:spPr>
          <a:xfrm>
            <a:off x="1709928" y="1554480"/>
            <a:ext cx="2697480" cy="6675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Score Goldstein positif mais ton médiatique négatif. Les médias sélectionnent les incidents et ignorent la coopération. Le biais est documenté, pas anecdotique.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7"/>
          <p:cNvSpPr/>
          <p:nvPr/>
        </p:nvSpPr>
        <p:spPr>
          <a:xfrm>
            <a:off x="411480" y="2450592"/>
            <a:ext cx="4114800" cy="111556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7"/>
          <p:cNvSpPr/>
          <p:nvPr/>
        </p:nvSpPr>
        <p:spPr>
          <a:xfrm>
            <a:off x="411480" y="2450592"/>
            <a:ext cx="64008" cy="111556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7"/>
          <p:cNvSpPr/>
          <p:nvPr/>
        </p:nvSpPr>
        <p:spPr>
          <a:xfrm>
            <a:off x="576072" y="2523744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4 %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7"/>
          <p:cNvSpPr/>
          <p:nvPr/>
        </p:nvSpPr>
        <p:spPr>
          <a:xfrm>
            <a:off x="576072" y="2889504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de la couverture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7"/>
          <p:cNvSpPr/>
          <p:nvPr/>
        </p:nvSpPr>
        <p:spPr>
          <a:xfrm>
            <a:off x="1709928" y="2523744"/>
            <a:ext cx="2697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Nord invisible — mais 4× plus négatif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7"/>
          <p:cNvSpPr/>
          <p:nvPr/>
        </p:nvSpPr>
        <p:spPr>
          <a:xfrm>
            <a:off x="1709928" y="2816352"/>
            <a:ext cx="2697480" cy="6675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Alibori, Atacora, Borgou quasi absents. Quand ils apparaissent : −4,10 de ton. L'invisibilité masque l'intensité réelle. Le STT par département corrige ce biais.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7"/>
          <p:cNvSpPr/>
          <p:nvPr/>
        </p:nvSpPr>
        <p:spPr>
          <a:xfrm>
            <a:off x="411480" y="3712464"/>
            <a:ext cx="4114800" cy="111556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7"/>
          <p:cNvSpPr/>
          <p:nvPr/>
        </p:nvSpPr>
        <p:spPr>
          <a:xfrm>
            <a:off x="411480" y="3712464"/>
            <a:ext cx="64008" cy="111556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7"/>
          <p:cNvSpPr/>
          <p:nvPr/>
        </p:nvSpPr>
        <p:spPr>
          <a:xfrm>
            <a:off x="576072" y="3785616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25 %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7"/>
          <p:cNvSpPr/>
          <p:nvPr/>
        </p:nvSpPr>
        <p:spPr>
          <a:xfrm>
            <a:off x="576072" y="4151376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conflictuels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7"/>
          <p:cNvSpPr/>
          <p:nvPr/>
        </p:nvSpPr>
        <p:spPr>
          <a:xfrm>
            <a:off x="1709928" y="3785616"/>
            <a:ext cx="2697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Sécuritaire écrase le coopératif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7"/>
          <p:cNvSpPr/>
          <p:nvPr/>
        </p:nvSpPr>
        <p:spPr>
          <a:xfrm>
            <a:off x="1709928" y="4078224"/>
            <a:ext cx="2697480" cy="6675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Un quart des événements portant sur la sécurité génère 100 % du ton négatif perçu. Poids 0,40 de z_cameo dans le STT directement justifié par cette observation.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7"/>
          <p:cNvSpPr/>
          <p:nvPr/>
        </p:nvSpPr>
        <p:spPr>
          <a:xfrm>
            <a:off x="4800600" y="1188720"/>
            <a:ext cx="4114800" cy="111556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7"/>
          <p:cNvSpPr/>
          <p:nvPr/>
        </p:nvSpPr>
        <p:spPr>
          <a:xfrm>
            <a:off x="4800600" y="1188720"/>
            <a:ext cx="64008" cy="111556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7"/>
          <p:cNvSpPr/>
          <p:nvPr/>
        </p:nvSpPr>
        <p:spPr>
          <a:xfrm>
            <a:off x="4965192" y="1261872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3 jours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7"/>
          <p:cNvSpPr/>
          <p:nvPr/>
        </p:nvSpPr>
        <p:spPr>
          <a:xfrm>
            <a:off x="4965192" y="162763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décisifs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7"/>
          <p:cNvSpPr/>
          <p:nvPr/>
        </p:nvSpPr>
        <p:spPr>
          <a:xfrm>
            <a:off x="6099048" y="1261872"/>
            <a:ext cx="2697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3 pics ont structuré toute 2025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7"/>
          <p:cNvSpPr/>
          <p:nvPr/>
        </p:nvSpPr>
        <p:spPr>
          <a:xfrm>
            <a:off x="6099048" y="1554480"/>
            <a:ext cx="2697480" cy="6675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10 jan · 17 avr · 7 déc. Chaque crise noyée dans 3 jours de volume. Leurs précurseurs médiatiques détectables en amont → justifie la latence 15 min de TERROIR.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7"/>
          <p:cNvSpPr/>
          <p:nvPr/>
        </p:nvSpPr>
        <p:spPr>
          <a:xfrm>
            <a:off x="4800600" y="2450592"/>
            <a:ext cx="4114800" cy="111556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7"/>
          <p:cNvSpPr/>
          <p:nvPr/>
        </p:nvSpPr>
        <p:spPr>
          <a:xfrm>
            <a:off x="4800600" y="2450592"/>
            <a:ext cx="64008" cy="11155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7"/>
          <p:cNvSpPr/>
          <p:nvPr/>
        </p:nvSpPr>
        <p:spPr>
          <a:xfrm>
            <a:off x="4965192" y="2523744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22 %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7"/>
          <p:cNvSpPr/>
          <p:nvPr/>
        </p:nvSpPr>
        <p:spPr>
          <a:xfrm>
            <a:off x="4965192" y="2889504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sources .ng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7"/>
          <p:cNvSpPr/>
          <p:nvPr/>
        </p:nvSpPr>
        <p:spPr>
          <a:xfrm>
            <a:off x="6099048" y="2523744"/>
            <a:ext cx="2697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22 % Nigerian — confusion Bénin/Bénin City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7"/>
          <p:cNvSpPr/>
          <p:nvPr/>
        </p:nvSpPr>
        <p:spPr>
          <a:xfrm>
            <a:off x="6099048" y="2816352"/>
            <a:ext cx="2697480" cy="6675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Le Bénin vu de Lagos avec ses propres intérêts. Certains articles confondent le Bénin et Benin City (Nigeria). Filtre IDN activable en 1 clic dans l'interface.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7"/>
          <p:cNvSpPr/>
          <p:nvPr/>
        </p:nvSpPr>
        <p:spPr>
          <a:xfrm>
            <a:off x="457200" y="477316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BéninScope · TERROIR · iSHEERO × DataCamp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7"/>
          <p:cNvSpPr/>
          <p:nvPr/>
        </p:nvSpPr>
        <p:spPr>
          <a:xfrm>
            <a:off x="8412480" y="4773168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7 / 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8"/>
          <p:cNvSpPr/>
          <p:nvPr/>
        </p:nvSpPr>
        <p:spPr>
          <a:xfrm>
            <a:off x="457200" y="256032"/>
            <a:ext cx="1463040" cy="256032"/>
          </a:xfrm>
          <a:prstGeom prst="roundRect">
            <a:avLst>
              <a:gd fmla="val 17857" name="adj"/>
            </a:avLst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8"/>
          <p:cNvSpPr/>
          <p:nvPr/>
        </p:nvSpPr>
        <p:spPr>
          <a:xfrm>
            <a:off x="457200" y="274320"/>
            <a:ext cx="14630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06 — LA DÉMO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8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La carte live · Le score de tension · L'alerte en action.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8"/>
          <p:cNvSpPr/>
          <p:nvPr/>
        </p:nvSpPr>
        <p:spPr>
          <a:xfrm>
            <a:off x="411480" y="1143000"/>
            <a:ext cx="4572000" cy="2926080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8"/>
          <p:cNvSpPr/>
          <p:nvPr/>
        </p:nvSpPr>
        <p:spPr>
          <a:xfrm>
            <a:off x="411480" y="114300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[ CAPTURE CARTE LIVE 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8"/>
          <p:cNvSpPr/>
          <p:nvPr/>
        </p:nvSpPr>
        <p:spPr>
          <a:xfrm>
            <a:off x="411480" y="3886200"/>
            <a:ext cx="45720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terroir.up.railway.app/#/live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8"/>
          <p:cNvSpPr/>
          <p:nvPr/>
        </p:nvSpPr>
        <p:spPr>
          <a:xfrm>
            <a:off x="5212080" y="1143000"/>
            <a:ext cx="3520440" cy="29260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8"/>
          <p:cNvSpPr/>
          <p:nvPr/>
        </p:nvSpPr>
        <p:spPr>
          <a:xfrm>
            <a:off x="5212080" y="1143000"/>
            <a:ext cx="3520440" cy="64008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8"/>
          <p:cNvSpPr/>
          <p:nvPr/>
        </p:nvSpPr>
        <p:spPr>
          <a:xfrm>
            <a:off x="5349240" y="1243584"/>
            <a:ext cx="3291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EXEMPLE D'ALERTE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8"/>
          <p:cNvSpPr/>
          <p:nvPr/>
        </p:nvSpPr>
        <p:spPr>
          <a:xfrm>
            <a:off x="5349240" y="1554480"/>
            <a:ext cx="3291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Alibori — Score 7,2 / 10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8"/>
          <p:cNvSpPr/>
          <p:nvPr/>
        </p:nvSpPr>
        <p:spPr>
          <a:xfrm>
            <a:off x="5349240" y="1965960"/>
            <a:ext cx="9601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Niveau 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8"/>
          <p:cNvSpPr/>
          <p:nvPr/>
        </p:nvSpPr>
        <p:spPr>
          <a:xfrm>
            <a:off x="6263640" y="1965960"/>
            <a:ext cx="23774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Précaution  (seuil 6,0)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8"/>
          <p:cNvSpPr/>
          <p:nvPr/>
        </p:nvSpPr>
        <p:spPr>
          <a:xfrm>
            <a:off x="5349240" y="2203704"/>
            <a:ext cx="9601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Signaux 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8"/>
          <p:cNvSpPr/>
          <p:nvPr/>
        </p:nvSpPr>
        <p:spPr>
          <a:xfrm>
            <a:off x="6263640" y="2203704"/>
            <a:ext cx="23774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+78 % incidents CAMEO sur 14 jours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8"/>
          <p:cNvSpPr/>
          <p:nvPr/>
        </p:nvSpPr>
        <p:spPr>
          <a:xfrm>
            <a:off x="5349240" y="2441448"/>
            <a:ext cx="32918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Ton moyen −4,1  (vs −1,8 médiane)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8"/>
          <p:cNvSpPr/>
          <p:nvPr/>
        </p:nvSpPr>
        <p:spPr>
          <a:xfrm>
            <a:off x="5349240" y="2679192"/>
            <a:ext cx="32918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5 médias convergent sur la zone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8"/>
          <p:cNvSpPr/>
          <p:nvPr/>
        </p:nvSpPr>
        <p:spPr>
          <a:xfrm>
            <a:off x="5349240" y="2916936"/>
            <a:ext cx="9601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Précédent 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8"/>
          <p:cNvSpPr/>
          <p:nvPr/>
        </p:nvSpPr>
        <p:spPr>
          <a:xfrm>
            <a:off x="6263640" y="2916936"/>
            <a:ext cx="23774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Mars 2024 — score 6,8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8"/>
          <p:cNvSpPr/>
          <p:nvPr/>
        </p:nvSpPr>
        <p:spPr>
          <a:xfrm>
            <a:off x="5349240" y="3154680"/>
            <a:ext cx="32918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→ restriction accès 7 jours plus tard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8"/>
          <p:cNvSpPr/>
          <p:nvPr/>
        </p:nvSpPr>
        <p:spPr>
          <a:xfrm>
            <a:off x="5349240" y="3392424"/>
            <a:ext cx="9601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Action 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8"/>
          <p:cNvSpPr/>
          <p:nvPr/>
        </p:nvSpPr>
        <p:spPr>
          <a:xfrm>
            <a:off x="6263640" y="3392424"/>
            <a:ext cx="23774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Vérification terrain dans les 48h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8"/>
          <p:cNvSpPr/>
          <p:nvPr/>
        </p:nvSpPr>
        <p:spPr>
          <a:xfrm>
            <a:off x="5349240" y="3630168"/>
            <a:ext cx="32918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Si confirmé → notifier OCHA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8"/>
          <p:cNvSpPr/>
          <p:nvPr/>
        </p:nvSpPr>
        <p:spPr>
          <a:xfrm>
            <a:off x="457200" y="477316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BéninScope · TERROIR · iSHEERO × DataCamp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8"/>
          <p:cNvSpPr/>
          <p:nvPr/>
        </p:nvSpPr>
        <p:spPr>
          <a:xfrm>
            <a:off x="8412480" y="4773168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8 / 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7" name="Google Shape;307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4375" y="1143000"/>
            <a:ext cx="4606201" cy="2926075"/>
          </a:xfrm>
          <a:prstGeom prst="rect">
            <a:avLst/>
          </a:prstGeom>
          <a:solidFill>
            <a:srgbClr val="E2E8F0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200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9"/>
          <p:cNvSpPr/>
          <p:nvPr/>
        </p:nvSpPr>
        <p:spPr>
          <a:xfrm>
            <a:off x="457200" y="256032"/>
            <a:ext cx="2286000" cy="256032"/>
          </a:xfrm>
          <a:prstGeom prst="roundRect">
            <a:avLst>
              <a:gd fmla="val 17857" name="adj"/>
            </a:avLst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9"/>
          <p:cNvSpPr/>
          <p:nvPr/>
        </p:nvSpPr>
        <p:spPr>
          <a:xfrm>
            <a:off x="457200" y="274320"/>
            <a:ext cx="2286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07 — ROADMAP &amp; IMPACT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9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Ce qu'on livre aujourd'hui. Ce qu'on construit ensuite.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9"/>
          <p:cNvSpPr/>
          <p:nvPr/>
        </p:nvSpPr>
        <p:spPr>
          <a:xfrm>
            <a:off x="411480" y="1143000"/>
            <a:ext cx="274320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9"/>
          <p:cNvSpPr/>
          <p:nvPr/>
        </p:nvSpPr>
        <p:spPr>
          <a:xfrm>
            <a:off x="411480" y="1143000"/>
            <a:ext cx="2743200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9"/>
          <p:cNvSpPr/>
          <p:nvPr/>
        </p:nvSpPr>
        <p:spPr>
          <a:xfrm>
            <a:off x="502920" y="1243584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V1 — Maintenant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9"/>
          <p:cNvSpPr/>
          <p:nvPr/>
        </p:nvSpPr>
        <p:spPr>
          <a:xfrm>
            <a:off x="502920" y="1600200"/>
            <a:ext cx="256032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Carte live Leaflet · marqueurs GDELT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Signalements citoyens GPS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Score STT 12 départements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Filtre Nigeria IDN activable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Validation croisée auto GDELT/terrain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Dashboard Streamlit analytique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API FastAPI déployée Railway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CI/CD GitHub push-to-deploy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9"/>
          <p:cNvSpPr/>
          <p:nvPr/>
        </p:nvSpPr>
        <p:spPr>
          <a:xfrm>
            <a:off x="3337560" y="1143000"/>
            <a:ext cx="2743200" cy="3200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9"/>
          <p:cNvSpPr/>
          <p:nvPr/>
        </p:nvSpPr>
        <p:spPr>
          <a:xfrm>
            <a:off x="3337560" y="1143000"/>
            <a:ext cx="274320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9"/>
          <p:cNvSpPr/>
          <p:nvPr/>
        </p:nvSpPr>
        <p:spPr>
          <a:xfrm>
            <a:off x="3429000" y="1243584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V2 — 3 mois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9"/>
          <p:cNvSpPr/>
          <p:nvPr/>
        </p:nvSpPr>
        <p:spPr>
          <a:xfrm>
            <a:off x="3429000" y="1600200"/>
            <a:ext cx="256032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Alertes push email / SMS automatiques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Migration incidents → PostgreSQL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Intégration ACLED pour validation terrain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NLP géolocalisation sous-départementale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Cartographie des acteurs récurrents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Extension Burkina Faso + Niger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900"/>
              <a:buFont typeface="Calibri"/>
              <a:buChar char="•"/>
            </a:pPr>
            <a:r>
              <a:rPr b="0" i="0" lang="en-US" sz="9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Sources locales béninoises non indexées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9"/>
          <p:cNvSpPr/>
          <p:nvPr/>
        </p:nvSpPr>
        <p:spPr>
          <a:xfrm>
            <a:off x="6263640" y="1143000"/>
            <a:ext cx="2468880" cy="3200400"/>
          </a:xfrm>
          <a:prstGeom prst="rect">
            <a:avLst/>
          </a:prstGeom>
          <a:solidFill>
            <a:srgbClr val="F0FDF4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9"/>
          <p:cNvSpPr/>
          <p:nvPr/>
        </p:nvSpPr>
        <p:spPr>
          <a:xfrm>
            <a:off x="6263640" y="1143000"/>
            <a:ext cx="64008" cy="32004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9"/>
          <p:cNvSpPr/>
          <p:nvPr/>
        </p:nvSpPr>
        <p:spPr>
          <a:xfrm>
            <a:off x="6446520" y="1243584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Impact cible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9"/>
          <p:cNvSpPr/>
          <p:nvPr/>
        </p:nvSpPr>
        <p:spPr>
          <a:xfrm>
            <a:off x="6446520" y="1627632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ONGs nord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9"/>
          <p:cNvSpPr/>
          <p:nvPr/>
        </p:nvSpPr>
        <p:spPr>
          <a:xfrm>
            <a:off x="6446520" y="1883664"/>
            <a:ext cx="2194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Décision 48h avant l'incident, pas après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9"/>
          <p:cNvSpPr/>
          <p:nvPr/>
        </p:nvSpPr>
        <p:spPr>
          <a:xfrm>
            <a:off x="6446520" y="2331720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Préfectures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9"/>
          <p:cNvSpPr/>
          <p:nvPr/>
        </p:nvSpPr>
        <p:spPr>
          <a:xfrm>
            <a:off x="6446520" y="2587752"/>
            <a:ext cx="2194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Score objectif pour prioriser les patrouilles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9"/>
          <p:cNvSpPr/>
          <p:nvPr/>
        </p:nvSpPr>
        <p:spPr>
          <a:xfrm>
            <a:off x="6446520" y="3035808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Journalistes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9"/>
          <p:cNvSpPr/>
          <p:nvPr/>
        </p:nvSpPr>
        <p:spPr>
          <a:xfrm>
            <a:off x="6446520" y="3291840"/>
            <a:ext cx="2194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Sujets émergents avant RFI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9"/>
          <p:cNvSpPr/>
          <p:nvPr/>
        </p:nvSpPr>
        <p:spPr>
          <a:xfrm>
            <a:off x="6446520" y="3739896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F3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1A1F36"/>
                </a:solidFill>
                <a:latin typeface="Calibri"/>
                <a:ea typeface="Calibri"/>
                <a:cs typeface="Calibri"/>
                <a:sym typeface="Calibri"/>
              </a:rPr>
              <a:t>Coût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9"/>
          <p:cNvSpPr/>
          <p:nvPr/>
        </p:nvSpPr>
        <p:spPr>
          <a:xfrm>
            <a:off x="6446520" y="3995928"/>
            <a:ext cx="21945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2 000–5 000 € / an vs 50 000 € évacuation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9"/>
          <p:cNvSpPr/>
          <p:nvPr/>
        </p:nvSpPr>
        <p:spPr>
          <a:xfrm>
            <a:off x="457200" y="4773168"/>
            <a:ext cx="73152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BéninScope · TERROIR · iSHEERO × DataCamp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9"/>
          <p:cNvSpPr/>
          <p:nvPr/>
        </p:nvSpPr>
        <p:spPr>
          <a:xfrm>
            <a:off x="8412480" y="4773168"/>
            <a:ext cx="548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9 / 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1F36"/>
        </a:solidFill>
      </p:bgPr>
    </p:bg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0"/>
          <p:cNvSpPr/>
          <p:nvPr/>
        </p:nvSpPr>
        <p:spPr>
          <a:xfrm>
            <a:off x="457200" y="822960"/>
            <a:ext cx="8229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 territoire parle.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0"/>
          <p:cNvSpPr/>
          <p:nvPr/>
        </p:nvSpPr>
        <p:spPr>
          <a:xfrm>
            <a:off x="457200" y="150876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4000"/>
              <a:buFont typeface="Calibri"/>
              <a:buNone/>
            </a:pPr>
            <a:r>
              <a:rPr b="0" i="1" lang="en-US" sz="4000" u="none" cap="none" strike="noStrike">
                <a:solidFill>
                  <a:srgbClr val="CCFBF1"/>
                </a:solidFill>
                <a:latin typeface="Calibri"/>
                <a:ea typeface="Calibri"/>
                <a:cs typeface="Calibri"/>
                <a:sym typeface="Calibri"/>
              </a:rPr>
              <a:t>TERROIR écoute.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0"/>
          <p:cNvSpPr/>
          <p:nvPr/>
        </p:nvSpPr>
        <p:spPr>
          <a:xfrm>
            <a:off x="457200" y="2423160"/>
            <a:ext cx="4114800" cy="1051560"/>
          </a:xfrm>
          <a:prstGeom prst="rect">
            <a:avLst/>
          </a:prstGeom>
          <a:solidFill>
            <a:srgbClr val="252B45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0"/>
          <p:cNvSpPr/>
          <p:nvPr/>
        </p:nvSpPr>
        <p:spPr>
          <a:xfrm>
            <a:off x="594360" y="2514600"/>
            <a:ext cx="38404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FBF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CFBF1"/>
                </a:solidFill>
                <a:latin typeface="Calibri"/>
                <a:ea typeface="Calibri"/>
                <a:cs typeface="Calibri"/>
                <a:sym typeface="Calibri"/>
              </a:rPr>
              <a:t>Essayez maintenant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0"/>
          <p:cNvSpPr/>
          <p:nvPr/>
        </p:nvSpPr>
        <p:spPr>
          <a:xfrm>
            <a:off x="594360" y="2834640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terroir.up.railway.app/#/live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0"/>
          <p:cNvSpPr/>
          <p:nvPr/>
        </p:nvSpPr>
        <p:spPr>
          <a:xfrm>
            <a:off x="4846320" y="242316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Stack :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0"/>
          <p:cNvSpPr/>
          <p:nvPr/>
        </p:nvSpPr>
        <p:spPr>
          <a:xfrm>
            <a:off x="4846320" y="2743200"/>
            <a:ext cx="1783080" cy="292608"/>
          </a:xfrm>
          <a:prstGeom prst="rect">
            <a:avLst/>
          </a:prstGeom>
          <a:solidFill>
            <a:srgbClr val="2D3450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0"/>
          <p:cNvSpPr/>
          <p:nvPr/>
        </p:nvSpPr>
        <p:spPr>
          <a:xfrm>
            <a:off x="4937760" y="2743200"/>
            <a:ext cx="1600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Python · FastAPI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0"/>
          <p:cNvSpPr/>
          <p:nvPr/>
        </p:nvSpPr>
        <p:spPr>
          <a:xfrm>
            <a:off x="6858000" y="2743200"/>
            <a:ext cx="1783080" cy="292608"/>
          </a:xfrm>
          <a:prstGeom prst="rect">
            <a:avLst/>
          </a:prstGeom>
          <a:solidFill>
            <a:srgbClr val="2D3450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0"/>
          <p:cNvSpPr/>
          <p:nvPr/>
        </p:nvSpPr>
        <p:spPr>
          <a:xfrm>
            <a:off x="6949440" y="2743200"/>
            <a:ext cx="1600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GDELT v2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0"/>
          <p:cNvSpPr/>
          <p:nvPr/>
        </p:nvSpPr>
        <p:spPr>
          <a:xfrm>
            <a:off x="4846320" y="3127248"/>
            <a:ext cx="1783080" cy="292608"/>
          </a:xfrm>
          <a:prstGeom prst="rect">
            <a:avLst/>
          </a:prstGeom>
          <a:solidFill>
            <a:srgbClr val="2D3450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0"/>
          <p:cNvSpPr/>
          <p:nvPr/>
        </p:nvSpPr>
        <p:spPr>
          <a:xfrm>
            <a:off x="4937760" y="3127248"/>
            <a:ext cx="1600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Leaflet.js · Vue 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0"/>
          <p:cNvSpPr/>
          <p:nvPr/>
        </p:nvSpPr>
        <p:spPr>
          <a:xfrm>
            <a:off x="6858000" y="3127248"/>
            <a:ext cx="1783080" cy="292608"/>
          </a:xfrm>
          <a:prstGeom prst="rect">
            <a:avLst/>
          </a:prstGeom>
          <a:solidFill>
            <a:srgbClr val="2D3450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0"/>
          <p:cNvSpPr/>
          <p:nvPr/>
        </p:nvSpPr>
        <p:spPr>
          <a:xfrm>
            <a:off x="6949440" y="3127248"/>
            <a:ext cx="1600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Railway · Streamlit Cloud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0"/>
          <p:cNvSpPr/>
          <p:nvPr/>
        </p:nvSpPr>
        <p:spPr>
          <a:xfrm>
            <a:off x="4846320" y="3511296"/>
            <a:ext cx="1783080" cy="292608"/>
          </a:xfrm>
          <a:prstGeom prst="rect">
            <a:avLst/>
          </a:prstGeom>
          <a:solidFill>
            <a:srgbClr val="2D3450"/>
          </a:solidFill>
          <a:ln>
            <a:noFill/>
          </a:ln>
          <a:effectLst>
            <a:outerShdw blurRad="1016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0"/>
          <p:cNvSpPr/>
          <p:nvPr/>
        </p:nvSpPr>
        <p:spPr>
          <a:xfrm>
            <a:off x="4937760" y="3511296"/>
            <a:ext cx="1600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Claude Sonnet 4.6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0"/>
          <p:cNvSpPr/>
          <p:nvPr/>
        </p:nvSpPr>
        <p:spPr>
          <a:xfrm>
            <a:off x="457200" y="4480560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Yaoitcha Rosine · Gbaguidi Adewale · Houndofi Jacques · Agboton Carine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0"/>
          <p:cNvSpPr/>
          <p:nvPr/>
        </p:nvSpPr>
        <p:spPr>
          <a:xfrm>
            <a:off x="457200" y="4754880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40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A4055"/>
                </a:solidFill>
                <a:latin typeface="Calibri"/>
                <a:ea typeface="Calibri"/>
                <a:cs typeface="Calibri"/>
                <a:sym typeface="Calibri"/>
              </a:rPr>
              <a:t>iSHEERO × DataCamp 2026  ·  Equipe 04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1" name="Google Shape;361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57727" y="2312075"/>
            <a:ext cx="1427600" cy="1410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2026-05-29T11:45:37Z</dcterms:created>
  <dc:creator>PptxGenJS</dc:creator>
</cp:coreProperties>
</file>