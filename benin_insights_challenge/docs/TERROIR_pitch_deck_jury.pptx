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88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3" roundtripDataSignature="AMtx7mj0sSYgBOE/iuG/qU1CiRage3Qv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customschemas.google.com/relationships/presentationmetadata" Target="meta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terroir.up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terroir.up" TargetMode="External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terroir.up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502920" y="1371600"/>
            <a:ext cx="86868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TERROIR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502920" y="3154680"/>
            <a:ext cx="2286000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502920" y="333756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Veille sécuritaire territoriale · Bénin · Temps réel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502920" y="4160520"/>
            <a:ext cx="6400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terroir.up.railway.app/#/live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502920" y="5897880"/>
            <a:ext cx="11155680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502920" y="605332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BeninScope  ·  iSHEERO × DataCamp 2026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02920" y="644652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Yaoitcha Rosine  ·  Gbaguidi Adewale  ·  Houndofi Jacques  ·  Agboton Carine</a:t>
            </a:r>
            <a:endParaRPr/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66976" y="4464227"/>
            <a:ext cx="1503087" cy="94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87559" y="4701072"/>
            <a:ext cx="1588011" cy="43281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8286" y="4559636"/>
            <a:ext cx="1073535" cy="7156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 / 8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502920" y="41148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nord du Bénin est sous tension.</a:t>
            </a:r>
            <a:b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Personne ne le surveille.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502920" y="1737360"/>
            <a:ext cx="914400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502920" y="1920240"/>
            <a:ext cx="53035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4 %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 la couverture médiatique internationale du Bénin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2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−4,10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ton médiatique nord  (4× plus négatif que le sud −1,09)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6492240" y="1920240"/>
            <a:ext cx="45720" cy="4114800"/>
          </a:xfrm>
          <a:prstGeom prst="rect">
            <a:avLst/>
          </a:prstGeom>
          <a:solidFill>
            <a:srgbClr val="64748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720840" y="2103120"/>
            <a:ext cx="5029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Quand le nord est couvert,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c'est presque toujours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 un incident sécuritaire.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Les signaux existent.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Ils ne sont pas agrégés.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/ 8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Les outils existants arrivent trop tard.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502920" y="1280160"/>
            <a:ext cx="914400" cy="45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02920" y="176479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868680" y="160020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ACLED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868680" y="210312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Enregistre les incidents violents après qu'ils se produisent.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868680" y="2496312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Utile pour l'analyse historique — inutile pour la décision terrain.</a:t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502920" y="327355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868680" y="310896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Rapports institutionnels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868680" y="361188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Hebdomadaires ou mensuels.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868680" y="4005072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Une ONG en situation d'urgence ne peut pas attendre 7 jours.</a:t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502920" y="478231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868680" y="461772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Systèmes commerciaux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868680" y="512064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Dataminr, ICEWS — conçus pour les gouvernements occidentaux.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868680" y="5513831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Non calibrés pour l'Afrique de l'Ouest. Inaccessibles financièrement.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 / 8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502920" y="36576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TERROIR surveille. Vous décidez.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502920" y="1170432"/>
            <a:ext cx="1005840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02920" y="1554480"/>
            <a:ext cx="91440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713232" y="160020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Signal avant l'incident — pas après.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713232" y="21488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ACLED documente. TERROIR détecte les précurseurs médiatiques dans la fenêtre pré-incident. Ces deux approches sont complémentaires.</a:t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502920" y="3154680"/>
            <a:ext cx="91440" cy="1371600"/>
          </a:xfrm>
          <a:prstGeom prst="rect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713232" y="320040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Médias internationaux + terrain combinés.</a:t>
            </a:r>
            <a:endParaRPr/>
          </a:p>
        </p:txBody>
      </p:sp>
      <p:sp>
        <p:nvSpPr>
          <p:cNvPr id="139" name="Google Shape;139;p4"/>
          <p:cNvSpPr txBox="1"/>
          <p:nvPr/>
        </p:nvSpPr>
        <p:spPr>
          <a:xfrm>
            <a:off x="713232" y="37490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GDELT capte ce que les médias couvrent. Le signalement citoyen GPS corrige le biais géographique. Ni l'un ni l'autre seul ne suffit.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502920" y="4754880"/>
            <a:ext cx="91440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713232" y="480060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Construit pour l'Afrique de l'Ouest.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713232" y="53492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Open source. Code auditable. Calibré sur les dynamiques médiatiques locales. Accessible pour une ONG à budget limité au Sahel.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/ 8</a:t>
            </a:r>
            <a:endParaRPr/>
          </a:p>
        </p:txBody>
      </p:sp>
      <p:sp>
        <p:nvSpPr>
          <p:cNvPr id="148" name="Google Shape;148;p5"/>
          <p:cNvSpPr txBox="1"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carte live.</a:t>
            </a:r>
            <a:endParaRPr/>
          </a:p>
        </p:txBody>
      </p:sp>
      <p:sp>
        <p:nvSpPr>
          <p:cNvPr id="149" name="Google Shape;149;p5"/>
          <p:cNvSpPr txBox="1"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GDELT · Signalements terrain · Temps réel</a:t>
            </a: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365760" y="1325880"/>
            <a:ext cx="11430000" cy="5120640"/>
          </a:xfrm>
          <a:prstGeom prst="rect">
            <a:avLst/>
          </a:prstGeom>
          <a:solidFill>
            <a:srgbClr val="161E2E"/>
          </a:solidFill>
          <a:ln cap="flat" cmpd="sng" w="12700">
            <a:solidFill>
              <a:srgbClr val="384A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640080" y="333756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84A5E"/>
                </a:solidFill>
                <a:latin typeface="Calibri"/>
                <a:ea typeface="Calibri"/>
                <a:cs typeface="Calibri"/>
                <a:sym typeface="Calibri"/>
              </a:rPr>
              <a:t>[ CAPTURE À INSÉRER ]</a:t>
            </a:r>
            <a:endParaRPr/>
          </a:p>
        </p:txBody>
      </p:sp>
      <p:sp>
        <p:nvSpPr>
          <p:cNvPr id="152" name="Google Shape;152;p5"/>
          <p:cNvSpPr txBox="1"/>
          <p:nvPr/>
        </p:nvSpPr>
        <p:spPr>
          <a:xfrm>
            <a:off x="640080" y="3749039"/>
            <a:ext cx="10881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Carte Live — terroir.up.railway.app/#/live</a:t>
            </a:r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Montrer : carte Bénin · marqueurs GDELT · signalements citoyens · interface visible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457200" y="6510528"/>
            <a:ext cx="8229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terroir.up.railway.app/#/live</a:t>
            </a:r>
            <a:endParaRPr/>
          </a:p>
        </p:txBody>
      </p:sp>
      <p:pic>
        <p:nvPicPr>
          <p:cNvPr id="155" name="Google Shape;155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50" y="1357550"/>
            <a:ext cx="11429999" cy="5088974"/>
          </a:xfrm>
          <a:prstGeom prst="rect">
            <a:avLst/>
          </a:prstGeom>
          <a:solidFill>
            <a:srgbClr val="161E2E"/>
          </a:solidFill>
          <a:ln cap="flat" cmpd="sng" w="12700">
            <a:solidFill>
              <a:srgbClr val="384A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/ 8</a:t>
            </a:r>
            <a:endParaRPr/>
          </a:p>
        </p:txBody>
      </p:sp>
      <p:sp>
        <p:nvSpPr>
          <p:cNvPr id="162" name="Google Shape;162;p6"/>
          <p:cNvSpPr txBox="1"/>
          <p:nvPr/>
        </p:nvSpPr>
        <p:spPr>
          <a:xfrm>
            <a:off x="502920" y="2743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Deux sources. Un signal. Une décision.</a:t>
            </a:r>
            <a:endParaRPr/>
          </a:p>
        </p:txBody>
      </p:sp>
      <p:sp>
        <p:nvSpPr>
          <p:cNvPr id="163" name="Google Shape;163;p6"/>
          <p:cNvSpPr/>
          <p:nvPr/>
        </p:nvSpPr>
        <p:spPr>
          <a:xfrm>
            <a:off x="502920" y="1024128"/>
            <a:ext cx="822960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502920" y="1234440"/>
            <a:ext cx="73152" cy="347472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 txBox="1"/>
          <p:nvPr/>
        </p:nvSpPr>
        <p:spPr>
          <a:xfrm>
            <a:off x="685800" y="123444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GDELT</a:t>
            </a:r>
            <a:endParaRPr/>
          </a:p>
        </p:txBody>
      </p:sp>
      <p:sp>
        <p:nvSpPr>
          <p:cNvPr id="166" name="Google Shape;166;p6"/>
          <p:cNvSpPr txBox="1"/>
          <p:nvPr/>
        </p:nvSpPr>
        <p:spPr>
          <a:xfrm>
            <a:off x="3429000" y="12344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Médias internationaux · toutes les 15 min</a:t>
            </a:r>
            <a:endParaRPr/>
          </a:p>
        </p:txBody>
      </p:sp>
      <p:sp>
        <p:nvSpPr>
          <p:cNvPr id="167" name="Google Shape;167;p6"/>
          <p:cNvSpPr txBox="1"/>
          <p:nvPr/>
        </p:nvSpPr>
        <p:spPr>
          <a:xfrm>
            <a:off x="822960" y="1600200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502920" y="1856232"/>
            <a:ext cx="73152" cy="347472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685800" y="1856232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Signalements terrain</a:t>
            </a:r>
            <a:endParaRPr/>
          </a:p>
        </p:txBody>
      </p:sp>
      <p:sp>
        <p:nvSpPr>
          <p:cNvPr id="170" name="Google Shape;170;p6"/>
          <p:cNvSpPr txBox="1"/>
          <p:nvPr/>
        </p:nvSpPr>
        <p:spPr>
          <a:xfrm>
            <a:off x="3429000" y="1856232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Citoyens + ONG · géolocalisés GPS</a:t>
            </a:r>
            <a:endParaRPr/>
          </a:p>
        </p:txBody>
      </p:sp>
      <p:sp>
        <p:nvSpPr>
          <p:cNvPr id="171" name="Google Shape;171;p6"/>
          <p:cNvSpPr txBox="1"/>
          <p:nvPr/>
        </p:nvSpPr>
        <p:spPr>
          <a:xfrm>
            <a:off x="822960" y="2221992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502920" y="2478024"/>
            <a:ext cx="73152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685800" y="2478024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Carte live</a:t>
            </a:r>
            <a:endParaRPr/>
          </a:p>
        </p:txBody>
      </p:sp>
      <p:sp>
        <p:nvSpPr>
          <p:cNvPr id="174" name="Google Shape;174;p6"/>
          <p:cNvSpPr txBox="1"/>
          <p:nvPr/>
        </p:nvSpPr>
        <p:spPr>
          <a:xfrm>
            <a:off x="3429000" y="2478024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 seul tableau de bord, pour tous</a:t>
            </a:r>
            <a:endParaRPr/>
          </a:p>
        </p:txBody>
      </p:sp>
      <p:sp>
        <p:nvSpPr>
          <p:cNvPr id="175" name="Google Shape;175;p6"/>
          <p:cNvSpPr txBox="1"/>
          <p:nvPr/>
        </p:nvSpPr>
        <p:spPr>
          <a:xfrm>
            <a:off x="822960" y="2843784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502920" y="3099816"/>
            <a:ext cx="73152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/>
        </p:nvSpPr>
        <p:spPr>
          <a:xfrm>
            <a:off x="685800" y="3099816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Score de tension</a:t>
            </a:r>
            <a:endParaRPr/>
          </a:p>
        </p:txBody>
      </p:sp>
      <p:sp>
        <p:nvSpPr>
          <p:cNvPr id="178" name="Google Shape;178;p6"/>
          <p:cNvSpPr txBox="1"/>
          <p:nvPr/>
        </p:nvSpPr>
        <p:spPr>
          <a:xfrm>
            <a:off x="3429000" y="30998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 département · calculé quotidiennement</a:t>
            </a:r>
            <a:endParaRPr/>
          </a:p>
        </p:txBody>
      </p:sp>
      <p:sp>
        <p:nvSpPr>
          <p:cNvPr id="179" name="Google Shape;179;p6"/>
          <p:cNvSpPr txBox="1"/>
          <p:nvPr/>
        </p:nvSpPr>
        <p:spPr>
          <a:xfrm>
            <a:off x="822960" y="3465576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502920" y="3721608"/>
            <a:ext cx="73152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372160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Alerte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3429000" y="372160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Zone · score · précédent · recommandation</a:t>
            </a: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6172200" y="1234440"/>
            <a:ext cx="36576" cy="5029200"/>
          </a:xfrm>
          <a:prstGeom prst="rect">
            <a:avLst/>
          </a:prstGeom>
          <a:solidFill>
            <a:srgbClr val="64748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355080" y="1234440"/>
            <a:ext cx="5486400" cy="5029200"/>
          </a:xfrm>
          <a:prstGeom prst="rect">
            <a:avLst/>
          </a:prstGeom>
          <a:solidFill>
            <a:srgbClr val="0A0F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355080" y="1234440"/>
            <a:ext cx="73152" cy="5029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 txBox="1"/>
          <p:nvPr/>
        </p:nvSpPr>
        <p:spPr>
          <a:xfrm>
            <a:off x="6556248" y="1389888"/>
            <a:ext cx="5120640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EXEMPLE D'ALERTE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Alibori — Score 7,2 /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[Niveau Précaution — seuil 6,0]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Signaux détectés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— Incidents CAMEO sécuritaires : +78 % sur 14 jours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— Ton moyen : −4,1  (vs −1,8 médiane nationale)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— 5 médias convergent sur la zone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Précédent : mars 2024  (score 6,8 → restriction d'accès 7j)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Action : vérification terrain dans les 48h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Si confirmé → notifier OCHA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 / 8</a:t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365760" y="365760"/>
            <a:ext cx="6675120" cy="5989320"/>
          </a:xfrm>
          <a:prstGeom prst="rect">
            <a:avLst/>
          </a:prstGeom>
          <a:solidFill>
            <a:srgbClr val="161E2E"/>
          </a:solidFill>
          <a:ln cap="flat" cmpd="sng" w="12700">
            <a:solidFill>
              <a:srgbClr val="384A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 txBox="1"/>
          <p:nvPr/>
        </p:nvSpPr>
        <p:spPr>
          <a:xfrm>
            <a:off x="640080" y="2811779"/>
            <a:ext cx="6126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84A5E"/>
                </a:solidFill>
                <a:latin typeface="Calibri"/>
                <a:ea typeface="Calibri"/>
                <a:cs typeface="Calibri"/>
                <a:sym typeface="Calibri"/>
              </a:rPr>
              <a:t>[ CAPTURE À INSÉRER ]</a:t>
            </a:r>
            <a:endParaRPr/>
          </a:p>
        </p:txBody>
      </p:sp>
      <p:sp>
        <p:nvSpPr>
          <p:cNvPr id="194" name="Google Shape;194;p7"/>
          <p:cNvSpPr txBox="1"/>
          <p:nvPr/>
        </p:nvSpPr>
        <p:spPr>
          <a:xfrm>
            <a:off x="640080" y="3223260"/>
            <a:ext cx="6126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Onglet Alertes ou TERROIR STT</a:t>
            </a:r>
            <a:endParaRPr/>
          </a:p>
        </p:txBody>
      </p:sp>
      <p:sp>
        <p:nvSpPr>
          <p:cNvPr id="195" name="Google Shape;195;p7"/>
          <p:cNvSpPr txBox="1"/>
          <p:nvPr/>
        </p:nvSpPr>
        <p:spPr>
          <a:xfrm>
            <a:off x="640080" y="3680459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Montrer : scores par département · niveaux d'alerte · recommandations</a:t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7269480" y="365760"/>
            <a:ext cx="45720" cy="59893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7452360" y="594360"/>
            <a:ext cx="44348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territoire parle.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TERROIR écoute.</a:t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7452360" y="2487168"/>
            <a:ext cx="4434840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7452360" y="2633472"/>
            <a:ext cx="4434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terroir.up.railway.app/#/live</a:t>
            </a:r>
            <a:endParaRPr/>
          </a:p>
        </p:txBody>
      </p:sp>
      <p:sp>
        <p:nvSpPr>
          <p:cNvPr id="200" name="Google Shape;200;p7"/>
          <p:cNvSpPr/>
          <p:nvPr/>
        </p:nvSpPr>
        <p:spPr>
          <a:xfrm>
            <a:off x="7452360" y="3291840"/>
            <a:ext cx="1920240" cy="19202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7498080" y="3337560"/>
            <a:ext cx="1828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QR CODE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Générer sur 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qr-code-generator.com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terroir.up.railway.app/#/live</a:t>
            </a:r>
            <a:endParaRPr/>
          </a:p>
        </p:txBody>
      </p:sp>
      <p:sp>
        <p:nvSpPr>
          <p:cNvPr id="202" name="Google Shape;202;p7"/>
          <p:cNvSpPr txBox="1"/>
          <p:nvPr/>
        </p:nvSpPr>
        <p:spPr>
          <a:xfrm>
            <a:off x="9509760" y="34290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Essayez</a:t>
            </a:r>
            <a:b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maintenant ↑</a:t>
            </a: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7452360" y="5943600"/>
            <a:ext cx="4434840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 txBox="1"/>
          <p:nvPr/>
        </p:nvSpPr>
        <p:spPr>
          <a:xfrm>
            <a:off x="7452360" y="6053328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BeninScope  ·  iSHEERO × DataCamp 2026</a:t>
            </a:r>
            <a:endParaRPr/>
          </a:p>
        </p:txBody>
      </p:sp>
      <p:pic>
        <p:nvPicPr>
          <p:cNvPr id="205" name="Google Shape;205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9525" y="3320798"/>
            <a:ext cx="1865906" cy="1844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3550" y="365750"/>
            <a:ext cx="6675126" cy="6053350"/>
          </a:xfrm>
          <a:prstGeom prst="rect">
            <a:avLst/>
          </a:prstGeom>
          <a:solidFill>
            <a:srgbClr val="161E2E"/>
          </a:solidFill>
          <a:ln cap="flat" cmpd="sng" w="12700">
            <a:solidFill>
              <a:srgbClr val="384A5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