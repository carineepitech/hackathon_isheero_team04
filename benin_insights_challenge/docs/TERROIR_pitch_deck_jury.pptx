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</a:rPr>
              <a:t>TERROIR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154680"/>
            <a:ext cx="2286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3375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Veille sécuritaire territoriale · Bénin ·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9669"/>
                </a:solidFill>
              </a:rPr>
              <a:t>terroir.up.railway.app/#/live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97880"/>
            <a:ext cx="1115568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053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BeninScope  ·  iSHEERO × DataCamp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Yaoitcha Rosine  ·  Gbaguidi Adewale  ·  Houndofi Jacques  ·  Agboton Carine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 nord du Bénin est sous tension.
Personne ne le surveille.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9144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59E0B"/>
                </a:solidFill>
              </a:rPr>
              <a:t>4 %</a:t>
            </a:r>
          </a:p>
          <a:p>
            <a:pPr algn="l"/>
            <a:r>
              <a:rPr sz="1400" b="0" i="0">
                <a:solidFill>
                  <a:srgbClr val="64748B"/>
                </a:solidFill>
              </a:rPr>
              <a:t>de la couverture médiatique internationale du Bénin</a:t>
            </a:r>
          </a:p>
          <a:p>
            <a:pPr algn="l"/>
            <a:r>
              <a:rPr sz="1400" b="0" i="0">
                <a:solidFill>
                  <a:srgbClr val="CBD5E1"/>
                </a:solidFill>
              </a:rPr>
              <a:t> </a:t>
            </a:r>
          </a:p>
          <a:p>
            <a:pPr algn="l"/>
            <a:r>
              <a:rPr sz="6200" b="1" i="0">
                <a:solidFill>
                  <a:srgbClr val="DC2626"/>
                </a:solidFill>
              </a:rPr>
              <a:t>−4,10</a:t>
            </a:r>
          </a:p>
          <a:p>
            <a:pPr algn="l"/>
            <a:r>
              <a:rPr sz="1400" b="0" i="0">
                <a:solidFill>
                  <a:srgbClr val="64748B"/>
                </a:solidFill>
              </a:rPr>
              <a:t>ton médiatique nord  (4× plus négatif que le sud −1,09)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920240"/>
            <a:ext cx="45720" cy="4114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Quand le nord est couvert,</a:t>
            </a:r>
          </a:p>
          <a:p>
            <a:pPr algn="l"/>
            <a:r>
              <a:rPr sz="1700" b="0" i="0">
                <a:solidFill>
                  <a:srgbClr val="CBD5E1"/>
                </a:solidFill>
              </a:rPr>
              <a:t>c'est presque toujours</a:t>
            </a:r>
          </a:p>
          <a:p>
            <a:pPr algn="l"/>
            <a:r>
              <a:rPr sz="1700" b="1" i="0">
                <a:solidFill>
                  <a:srgbClr val="FFFFFF"/>
                </a:solidFill>
              </a:rPr>
              <a:t>pour un incident sécuritaire.</a:t>
            </a:r>
          </a:p>
          <a:p>
            <a:pPr algn="l"/>
            <a:r>
              <a:rPr sz="1000" b="0" i="0">
                <a:solidFill>
                  <a:srgbClr val="CBD5E1"/>
                </a:solidFill>
              </a:rPr>
              <a:t> </a:t>
            </a:r>
          </a:p>
          <a:p>
            <a:pPr algn="l"/>
            <a:r>
              <a:rPr sz="1500" b="0" i="0">
                <a:solidFill>
                  <a:srgbClr val="CBD5E1"/>
                </a:solidFill>
              </a:rPr>
              <a:t>Les signaux existent.</a:t>
            </a:r>
          </a:p>
          <a:p>
            <a:pPr algn="l"/>
            <a:r>
              <a:rPr sz="1500" b="0" i="0">
                <a:solidFill>
                  <a:srgbClr val="CBD5E1"/>
                </a:solidFill>
              </a:rPr>
              <a:t>Ils ne sont pas agrégés.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Les outils existants arrivent trop tard.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914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64792"/>
            <a:ext cx="25603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ACLED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Enregistre les incidents violents après qu'ils se produisent.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Utile pour l'analyse historique — inutile pour la décision terrain.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73552"/>
            <a:ext cx="25603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Rapports institutionnels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Hebdomadaires ou mensuels.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Une ONG en situation d'urgence ne peut pas attendre 7 jours.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82312"/>
            <a:ext cx="25603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Systèmes commerciaux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Dataminr, ICEWS — conçus pour les gouvernements occidentaux.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13831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Non calibrés pour l'Afrique de l'Ouest. Inaccessibles financièrement.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 carte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GDELT · Signalements terrain · Temps réel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5120640"/>
          </a:xfrm>
          <a:prstGeom prst="rect">
            <a:avLst/>
          </a:prstGeom>
          <a:solidFill>
            <a:srgbClr val="161E2E"/>
          </a:solidFill>
          <a:ln w="12700">
            <a:solidFill>
              <a:srgbClr val="38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4A5E"/>
                </a:solidFill>
              </a:rPr>
              <a:t>[ CAPTURE À INSÉRER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</a:rPr>
              <a:t>Carte Live — terroir.up.railway.app/#/live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Montrer : carte Bénin · marqueurs GDELT · signalements citoyens · interface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</a:rPr>
              <a:t>terroir.up.railway.app/#/live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Deux sources. Un signal. Une décision.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82296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7315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GDELT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Médias internationaux · toutes les 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56232"/>
            <a:ext cx="7315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562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Signalements terrain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562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Citoyens + ONG · géolocalisés GPS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219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78024"/>
            <a:ext cx="7315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7802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Carte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4780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Un seul tableau de bord, pour tous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4378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99816"/>
            <a:ext cx="7315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998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Score de 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0998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Par département · calculé quotidiennement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6557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21608"/>
            <a:ext cx="731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216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Alerte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721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Zone · score · précédent · recommandation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234440"/>
            <a:ext cx="36576" cy="5029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1234440"/>
            <a:ext cx="5486400" cy="50292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234440"/>
            <a:ext cx="73152" cy="5029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1389888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EXEMPLE D'ALERTE</a:t>
            </a:r>
          </a:p>
          <a:p>
            <a:pPr algn="l"/>
            <a:r>
              <a:rPr sz="1500" b="1" i="0">
                <a:solidFill>
                  <a:srgbClr val="F59E0B"/>
                </a:solidFill>
              </a:rPr>
              <a:t>Alibori — Score 7,2 / 10</a:t>
            </a:r>
          </a:p>
          <a:p>
            <a:pPr algn="l"/>
            <a:r>
              <a:rPr sz="1200" b="0" i="0">
                <a:solidFill>
                  <a:srgbClr val="F59E0B"/>
                </a:solidFill>
              </a:rPr>
              <a:t>[Niveau Précaution — seuil 6,0]</a:t>
            </a:r>
          </a:p>
          <a:p>
            <a:pPr algn="l"/>
            <a:r>
              <a:rPr sz="700" b="0" i="0">
                <a:solidFill>
                  <a:srgbClr val="CBD5E1"/>
                </a:solidFill>
              </a:rPr>
              <a:t> </a:t>
            </a:r>
          </a:p>
          <a:p>
            <a:pPr algn="l"/>
            <a:r>
              <a:rPr sz="1200" b="1" i="0">
                <a:solidFill>
                  <a:srgbClr val="CBD5E1"/>
                </a:solidFill>
              </a:rPr>
              <a:t>Signaux détectés :</a:t>
            </a:r>
          </a:p>
          <a:p>
            <a:pPr algn="l"/>
            <a:r>
              <a:rPr sz="1200" b="0" i="0">
                <a:solidFill>
                  <a:srgbClr val="CBD5E1"/>
                </a:solidFill>
              </a:rPr>
              <a:t>— Incidents CAMEO sécuritaires : +78 % sur 14 jours</a:t>
            </a:r>
          </a:p>
          <a:p>
            <a:pPr algn="l"/>
            <a:r>
              <a:rPr sz="1200" b="0" i="0">
                <a:solidFill>
                  <a:srgbClr val="CBD5E1"/>
                </a:solidFill>
              </a:rPr>
              <a:t>— Ton moyen : −4,1  (vs −1,8 médiane nationale)</a:t>
            </a:r>
          </a:p>
          <a:p>
            <a:pPr algn="l"/>
            <a:r>
              <a:rPr sz="1200" b="0" i="0">
                <a:solidFill>
                  <a:srgbClr val="CBD5E1"/>
                </a:solidFill>
              </a:rPr>
              <a:t>— 5 médias convergent sur la zone</a:t>
            </a:r>
          </a:p>
          <a:p>
            <a:pPr algn="l"/>
            <a:r>
              <a:rPr sz="700" b="0" i="0">
                <a:solidFill>
                  <a:srgbClr val="CBD5E1"/>
                </a:solidFill>
              </a:rPr>
              <a:t> </a:t>
            </a:r>
          </a:p>
          <a:p>
            <a:pPr algn="l"/>
            <a:r>
              <a:rPr sz="1100" b="0" i="1">
                <a:solidFill>
                  <a:srgbClr val="64748B"/>
                </a:solidFill>
              </a:rPr>
              <a:t>Précédent : mars 2024  (score 6,8 → restriction d'accès 7j)</a:t>
            </a:r>
          </a:p>
          <a:p>
            <a:pPr algn="l"/>
            <a:r>
              <a:rPr sz="700" b="0" i="0">
                <a:solidFill>
                  <a:srgbClr val="CBD5E1"/>
                </a:solidFill>
              </a:rPr>
              <a:t> </a:t>
            </a:r>
          </a:p>
          <a:p>
            <a:pPr algn="l"/>
            <a:r>
              <a:rPr sz="1200" b="1" i="0">
                <a:solidFill>
                  <a:srgbClr val="059669"/>
                </a:solidFill>
              </a:rPr>
              <a:t>Action : vérification terrain dans les 48h</a:t>
            </a:r>
          </a:p>
          <a:p>
            <a:pPr algn="l"/>
            <a:r>
              <a:rPr sz="1200" b="0" i="0">
                <a:solidFill>
                  <a:srgbClr val="059669"/>
                </a:solidFill>
              </a:rPr>
              <a:t>Si confirmé → notifier OCHA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 calcul est simple.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10972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C2626"/>
                </a:solidFill>
              </a:rPr>
              <a:t>50 000 – 200 000 €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coût d'une évacuation précipitée d'équipes terrain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91440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10972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9669"/>
                </a:solidFill>
              </a:rPr>
              <a:t>quelques milliers €/an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abonnement annuel à TERROIR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91440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10972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1 évacuation évitée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= 50 × le coût de l'abonnement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20 ONGs actives au Sahel  —  marché immédiat : 60 000 – 160 000 € / 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TERROIR surveille. Vous décidez.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9144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Signal avant l'incident — pas après.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ACLED documente. TERROIR détecte les précurseurs médiatiques dans la fenêtre pré-incident. Ces deux approches sont complémentaires.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54680"/>
            <a:ext cx="9144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00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Médias internationaux + terrain combinés.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49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GDELT capte ce que les médias couvrent. Le signalement citoyen GPS corrige le biais géographique. Ni l'un ni l'autre seul ne suffit.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9144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800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Construit pour l'Afrique de l'Ouest.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349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Open source. Code auditable. Calibré sur les dynamiques médiatiques locales. Accessible pour une ONG à budget limité au Sahel.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8 / 8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6675120" cy="5989320"/>
          </a:xfrm>
          <a:prstGeom prst="rect">
            <a:avLst/>
          </a:prstGeom>
          <a:solidFill>
            <a:srgbClr val="161E2E"/>
          </a:solidFill>
          <a:ln w="12700">
            <a:solidFill>
              <a:srgbClr val="38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1177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4A5E"/>
                </a:solidFill>
              </a:rPr>
              <a:t>[ CAPTURE À INSÉRER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2326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</a:rPr>
              <a:t>Onglet Alertes ou TERROIR STT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80459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Montrer : scores par département · niveaux d'alerte · recommandations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9480" y="365760"/>
            <a:ext cx="45720" cy="5989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594360"/>
            <a:ext cx="4434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Le territoire parle.</a:t>
            </a:r>
          </a:p>
          <a:p>
            <a:pPr algn="l"/>
            <a:r>
              <a:rPr sz="2200" b="1" i="0">
                <a:solidFill>
                  <a:srgbClr val="059669"/>
                </a:solidFill>
              </a:rPr>
              <a:t>TERROIR écoute.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487168"/>
            <a:ext cx="44348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633472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terroir.up.railway.app/#/live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291840"/>
            <a:ext cx="1920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33375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QR CODE</a:t>
            </a:r>
          </a:p>
          <a:p>
            <a:pPr algn="l"/>
            <a:r>
              <a:rPr sz="400" b="0" i="0">
                <a:solidFill>
                  <a:srgbClr val="0F172A"/>
                </a:solidFill>
              </a:rPr>
              <a:t> </a:t>
            </a:r>
          </a:p>
          <a:p>
            <a:pPr algn="ctr"/>
            <a:r>
              <a:rPr sz="800" b="0" i="0">
                <a:solidFill>
                  <a:srgbClr val="64748B"/>
                </a:solidFill>
              </a:rPr>
              <a:t>Générer sur :</a:t>
            </a:r>
          </a:p>
          <a:p>
            <a:pPr algn="ctr"/>
            <a:r>
              <a:rPr sz="800" b="0" i="0">
                <a:solidFill>
                  <a:srgbClr val="64748B"/>
                </a:solidFill>
              </a:rPr>
              <a:t>qr-code-generator.com</a:t>
            </a:r>
          </a:p>
          <a:p>
            <a:pPr algn="l"/>
            <a:r>
              <a:rPr sz="400" b="0" i="0">
                <a:solidFill>
                  <a:srgbClr val="0F172A"/>
                </a:solidFill>
              </a:rPr>
              <a:t> </a:t>
            </a:r>
          </a:p>
          <a:p>
            <a:pPr algn="ctr"/>
            <a:r>
              <a:rPr sz="700" b="0" i="0">
                <a:solidFill>
                  <a:srgbClr val="64748B"/>
                </a:solidFill>
              </a:rPr>
              <a:t>terroir.up.railway.app/#/live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Essayez
maintenant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5943600"/>
            <a:ext cx="443484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6053328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BeninScope  ·  iSHEERO × DataCamp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