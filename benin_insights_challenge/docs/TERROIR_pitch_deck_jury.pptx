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2" r:id="rId5"/>
    <p:sldId id="259" r:id="rId6"/>
    <p:sldId id="260" r:id="rId7"/>
    <p:sldId id="263" r:id="rId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0"/>
            <a:ext cx="8686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0" b="1" i="0">
                <a:solidFill>
                  <a:srgbClr val="FFFFFF"/>
                </a:solidFill>
              </a:rPr>
              <a:t>TERROIR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3154680"/>
            <a:ext cx="228600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33756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BD5E1"/>
                </a:solidFill>
              </a:rPr>
              <a:t>Veille sécuritaire territoriale · Bénin · Temps réel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16052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59669"/>
                </a:solidFill>
              </a:rPr>
              <a:t>terroir.up.railway.app/#/live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97880"/>
            <a:ext cx="11155680" cy="3657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0533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BeninScope  ·  iSHEERO × DataCamp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</a:rPr>
              <a:t>Yaoitcha Rosine  ·  Gbaguidi Adewale  ·  Houndofi Jacques  ·  Agboton Carine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FAB55F8-3701-48B2-98C6-1144D3E3A8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6976" y="4464227"/>
            <a:ext cx="1503087" cy="9466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1C14C37-2A0F-8893-3738-F6DCFF3315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7559" y="4701072"/>
            <a:ext cx="1588011" cy="43281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D9E8BEE-DAB2-177E-A6E6-32FA15D561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8286" y="4559636"/>
            <a:ext cx="1073535" cy="71569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75720" y="6565392"/>
            <a:ext cx="594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</a:rPr>
              <a:t>2 /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FFFFFF"/>
                </a:solidFill>
              </a:rPr>
              <a:t>Le </a:t>
            </a:r>
            <a:r>
              <a:rPr sz="3000" b="1" i="0" dirty="0" err="1">
                <a:solidFill>
                  <a:srgbClr val="FFFFFF"/>
                </a:solidFill>
              </a:rPr>
              <a:t>nord</a:t>
            </a:r>
            <a:r>
              <a:rPr sz="3000" b="1" i="0" dirty="0">
                <a:solidFill>
                  <a:srgbClr val="FFFFFF"/>
                </a:solidFill>
              </a:rPr>
              <a:t> du </a:t>
            </a:r>
            <a:r>
              <a:rPr sz="3000" b="1" i="0" dirty="0" err="1">
                <a:solidFill>
                  <a:srgbClr val="FFFFFF"/>
                </a:solidFill>
              </a:rPr>
              <a:t>Bénin</a:t>
            </a:r>
            <a:r>
              <a:rPr sz="3000" b="1" i="0" dirty="0">
                <a:solidFill>
                  <a:srgbClr val="FFFFFF"/>
                </a:solidFill>
              </a:rPr>
              <a:t> est sous tension.
Personne ne le surveille.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737360"/>
            <a:ext cx="914400" cy="45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92024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200" b="1" i="0">
                <a:solidFill>
                  <a:srgbClr val="F59E0B"/>
                </a:solidFill>
              </a:rPr>
              <a:t>4 %</a:t>
            </a:r>
          </a:p>
          <a:p>
            <a:pPr algn="l"/>
            <a:r>
              <a:rPr sz="1400" b="0" i="0">
                <a:solidFill>
                  <a:srgbClr val="64748B"/>
                </a:solidFill>
              </a:rPr>
              <a:t>de la couverture médiatique internationale du Bénin</a:t>
            </a:r>
          </a:p>
          <a:p>
            <a:pPr algn="l"/>
            <a:r>
              <a:rPr sz="1400" b="0" i="0">
                <a:solidFill>
                  <a:srgbClr val="CBD5E1"/>
                </a:solidFill>
              </a:rPr>
              <a:t> </a:t>
            </a:r>
          </a:p>
          <a:p>
            <a:pPr algn="l"/>
            <a:r>
              <a:rPr sz="6200" b="1" i="0">
                <a:solidFill>
                  <a:srgbClr val="DC2626"/>
                </a:solidFill>
              </a:rPr>
              <a:t>−4,10</a:t>
            </a:r>
          </a:p>
          <a:p>
            <a:pPr algn="l"/>
            <a:r>
              <a:rPr sz="1400" b="0" i="0">
                <a:solidFill>
                  <a:srgbClr val="64748B"/>
                </a:solidFill>
              </a:rPr>
              <a:t>ton médiatique nord  (4× plus négatif que le sud −1,09)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920240"/>
            <a:ext cx="45720" cy="41148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20840" y="21031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CBD5E1"/>
                </a:solidFill>
              </a:rPr>
              <a:t>Quand le nord est couvert,</a:t>
            </a:r>
          </a:p>
          <a:p>
            <a:pPr algn="l"/>
            <a:r>
              <a:rPr sz="1700" b="0" i="0">
                <a:solidFill>
                  <a:srgbClr val="CBD5E1"/>
                </a:solidFill>
              </a:rPr>
              <a:t>c'est presque toujours</a:t>
            </a:r>
          </a:p>
          <a:p>
            <a:pPr algn="l"/>
            <a:r>
              <a:rPr sz="1700" b="1" i="0">
                <a:solidFill>
                  <a:srgbClr val="FFFFFF"/>
                </a:solidFill>
              </a:rPr>
              <a:t>pour un incident sécuritaire.</a:t>
            </a:r>
          </a:p>
          <a:p>
            <a:pPr algn="l"/>
            <a:r>
              <a:rPr sz="1000" b="0" i="0">
                <a:solidFill>
                  <a:srgbClr val="CBD5E1"/>
                </a:solidFill>
              </a:rPr>
              <a:t> </a:t>
            </a:r>
          </a:p>
          <a:p>
            <a:pPr algn="l"/>
            <a:r>
              <a:rPr sz="1500" b="0" i="0">
                <a:solidFill>
                  <a:srgbClr val="CBD5E1"/>
                </a:solidFill>
              </a:rPr>
              <a:t>Les signaux existent.</a:t>
            </a:r>
          </a:p>
          <a:p>
            <a:pPr algn="l"/>
            <a:r>
              <a:rPr sz="1500" b="0" i="0">
                <a:solidFill>
                  <a:srgbClr val="CBD5E1"/>
                </a:solidFill>
              </a:rPr>
              <a:t>Ils ne sont pas agrégés.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75720" y="6565392"/>
            <a:ext cx="594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</a:rPr>
              <a:t>3 /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Les outils existants arrivent trop tard.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80160"/>
            <a:ext cx="914400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764792"/>
            <a:ext cx="256032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600200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ACLED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</a:rPr>
              <a:t>Enregistre les incidents violents après qu'ils se produisent.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96312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</a:rPr>
              <a:t>Utile pour l'analyse historique — inutile pour la décision terrain.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273552"/>
            <a:ext cx="256032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3108960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Rapports institutionnels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1188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</a:rPr>
              <a:t>Hebdomadaires ou mensuels.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005072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</a:rPr>
              <a:t>Une ONG en situation d'urgence ne peut pas attendre 7 jours.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782312"/>
            <a:ext cx="256032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4617720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Systèmes commerciaux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12064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</a:rPr>
              <a:t>Dataminr, ICEWS — conçus pour les gouvernements occidentaux.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13831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</a:rPr>
              <a:t>Non calibrés pour l'Afrique de l'Ouest. Inaccessibles financièrement.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75720" y="6565392"/>
            <a:ext cx="594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</a:rPr>
              <a:t>7 /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TERROIR surveille. Vous décidez.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1005840" cy="45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91440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6002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Signal avant l'incident — pas après.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14884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ACLED documente. TERROIR détecte les précurseurs médiatiques dans la fenêtre pré-incident. Ces deux approches sont complémentaires.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154680"/>
            <a:ext cx="91440" cy="13716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32004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Médias internationaux + terrain combinés.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4904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GDELT capte ce que les médias couvrent. Le signalement citoyen GPS corrige le biais géographique. Ni l'un ni l'autre seul ne suffit.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754880"/>
            <a:ext cx="91440" cy="137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48006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Construit pour l'Afrique de l'Ouest.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534924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Open source. Code auditable. Calibré sur les dynamiques médiatiques locales. Accessible pour une ONG à budget limité au Sahel.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75720" y="6565392"/>
            <a:ext cx="594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</a:rPr>
              <a:t>4 /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La carte live.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GDELT · Signalements terrain · Temps réel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25880"/>
            <a:ext cx="11430000" cy="5120640"/>
          </a:xfrm>
          <a:prstGeom prst="rect">
            <a:avLst/>
          </a:prstGeom>
          <a:solidFill>
            <a:srgbClr val="161E2E"/>
          </a:solidFill>
          <a:ln w="12700">
            <a:solidFill>
              <a:srgbClr val="384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84A5E"/>
                </a:solidFill>
              </a:rPr>
              <a:t>[ CAPTURE À INSÉRER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49039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64748B"/>
                </a:solidFill>
              </a:rPr>
              <a:t>Carte Live — terroir.up.railway.app/#/live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</a:rPr>
              <a:t>Montrer : carte Bénin · marqueurs GDELT · signalements citoyens · interface visible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</a:rPr>
              <a:t>terroir.up.railway.app/#/live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75720" y="6565392"/>
            <a:ext cx="594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</a:rPr>
              <a:t>5 /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Deux sources. Un signal. Une décision.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822960" cy="45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73152" cy="34747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</a:rPr>
              <a:t>GDELT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12344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Médias internationaux · toutes les 15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60020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↓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56232"/>
            <a:ext cx="73152" cy="34747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856232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</a:rPr>
              <a:t>Signalements terrain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185623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Citoyens + ONG · géolocalisés GPS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221992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478024"/>
            <a:ext cx="73152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2478024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</a:rPr>
              <a:t>Carte live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47802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Un seul tableau de bord, pour tous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843784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099816"/>
            <a:ext cx="73152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3099816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</a:rPr>
              <a:t>Score de tension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309981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Par département · calculé quotidiennement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465576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721608"/>
            <a:ext cx="731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" y="372160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Alerte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372160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Zone · score · précédent · recommandation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1234440"/>
            <a:ext cx="36576" cy="50292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355080" y="1234440"/>
            <a:ext cx="5486400" cy="502920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355080" y="1234440"/>
            <a:ext cx="73152" cy="5029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56248" y="1389888"/>
            <a:ext cx="51206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C2626"/>
                </a:solidFill>
              </a:rPr>
              <a:t>EXEMPLE D'ALERTE</a:t>
            </a:r>
          </a:p>
          <a:p>
            <a:pPr algn="l"/>
            <a:r>
              <a:rPr sz="1500" b="1" i="0">
                <a:solidFill>
                  <a:srgbClr val="F59E0B"/>
                </a:solidFill>
              </a:rPr>
              <a:t>Alibori — Score 7,2 / 10</a:t>
            </a:r>
          </a:p>
          <a:p>
            <a:pPr algn="l"/>
            <a:r>
              <a:rPr sz="1200" b="0" i="0">
                <a:solidFill>
                  <a:srgbClr val="F59E0B"/>
                </a:solidFill>
              </a:rPr>
              <a:t>[Niveau Précaution — seuil 6,0]</a:t>
            </a:r>
          </a:p>
          <a:p>
            <a:pPr algn="l"/>
            <a:r>
              <a:rPr sz="700" b="0" i="0">
                <a:solidFill>
                  <a:srgbClr val="CBD5E1"/>
                </a:solidFill>
              </a:rPr>
              <a:t> </a:t>
            </a:r>
          </a:p>
          <a:p>
            <a:pPr algn="l"/>
            <a:r>
              <a:rPr sz="1200" b="1" i="0">
                <a:solidFill>
                  <a:srgbClr val="CBD5E1"/>
                </a:solidFill>
              </a:rPr>
              <a:t>Signaux détectés :</a:t>
            </a:r>
          </a:p>
          <a:p>
            <a:pPr algn="l"/>
            <a:r>
              <a:rPr sz="1200" b="0" i="0">
                <a:solidFill>
                  <a:srgbClr val="CBD5E1"/>
                </a:solidFill>
              </a:rPr>
              <a:t>— Incidents CAMEO sécuritaires : +78 % sur 14 jours</a:t>
            </a:r>
          </a:p>
          <a:p>
            <a:pPr algn="l"/>
            <a:r>
              <a:rPr sz="1200" b="0" i="0">
                <a:solidFill>
                  <a:srgbClr val="CBD5E1"/>
                </a:solidFill>
              </a:rPr>
              <a:t>— Ton moyen : −4,1  (vs −1,8 médiane nationale)</a:t>
            </a:r>
          </a:p>
          <a:p>
            <a:pPr algn="l"/>
            <a:r>
              <a:rPr sz="1200" b="0" i="0">
                <a:solidFill>
                  <a:srgbClr val="CBD5E1"/>
                </a:solidFill>
              </a:rPr>
              <a:t>— 5 médias convergent sur la zone</a:t>
            </a:r>
          </a:p>
          <a:p>
            <a:pPr algn="l"/>
            <a:r>
              <a:rPr sz="700" b="0" i="0">
                <a:solidFill>
                  <a:srgbClr val="CBD5E1"/>
                </a:solidFill>
              </a:rPr>
              <a:t> </a:t>
            </a:r>
          </a:p>
          <a:p>
            <a:pPr algn="l"/>
            <a:r>
              <a:rPr sz="1100" b="0" i="1">
                <a:solidFill>
                  <a:srgbClr val="64748B"/>
                </a:solidFill>
              </a:rPr>
              <a:t>Précédent : mars 2024  (score 6,8 → restriction d'accès 7j)</a:t>
            </a:r>
          </a:p>
          <a:p>
            <a:pPr algn="l"/>
            <a:r>
              <a:rPr sz="700" b="0" i="0">
                <a:solidFill>
                  <a:srgbClr val="CBD5E1"/>
                </a:solidFill>
              </a:rPr>
              <a:t> </a:t>
            </a:r>
          </a:p>
          <a:p>
            <a:pPr algn="l"/>
            <a:r>
              <a:rPr sz="1200" b="1" i="0">
                <a:solidFill>
                  <a:srgbClr val="059669"/>
                </a:solidFill>
              </a:rPr>
              <a:t>Action : vérification terrain dans les 48h</a:t>
            </a:r>
          </a:p>
          <a:p>
            <a:pPr algn="l"/>
            <a:r>
              <a:rPr sz="1200" b="0" i="0">
                <a:solidFill>
                  <a:srgbClr val="059669"/>
                </a:solidFill>
              </a:rPr>
              <a:t>Si confirmé → notifier OCHA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75720" y="6565392"/>
            <a:ext cx="594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</a:rPr>
              <a:t>8 / 8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365760"/>
            <a:ext cx="6675120" cy="5989320"/>
          </a:xfrm>
          <a:prstGeom prst="rect">
            <a:avLst/>
          </a:prstGeom>
          <a:solidFill>
            <a:srgbClr val="161E2E"/>
          </a:solidFill>
          <a:ln w="12700">
            <a:solidFill>
              <a:srgbClr val="384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811779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84A5E"/>
                </a:solidFill>
              </a:rPr>
              <a:t>[ CAPTURE À INSÉRER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23260"/>
            <a:ext cx="6126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64748B"/>
                </a:solidFill>
              </a:rPr>
              <a:t>Onglet Alertes ou TERROIR STT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80459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</a:rPr>
              <a:t>Montrer : scores par département · niveaux d'alerte · recommandations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269480" y="365760"/>
            <a:ext cx="45720" cy="5989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52360" y="594360"/>
            <a:ext cx="4434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Le territoire parle.</a:t>
            </a:r>
          </a:p>
          <a:p>
            <a:pPr algn="l"/>
            <a:r>
              <a:rPr sz="2200" b="1" i="0">
                <a:solidFill>
                  <a:srgbClr val="059669"/>
                </a:solidFill>
              </a:rPr>
              <a:t>TERROIR écoute.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2487168"/>
            <a:ext cx="443484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52360" y="2633472"/>
            <a:ext cx="4434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</a:rPr>
              <a:t>terroir.up.railway.app/#/live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3291840"/>
            <a:ext cx="192024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98080" y="33375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</a:rPr>
              <a:t>QR CODE</a:t>
            </a:r>
          </a:p>
          <a:p>
            <a:pPr algn="l"/>
            <a:r>
              <a:rPr sz="400" b="0" i="0">
                <a:solidFill>
                  <a:srgbClr val="0F172A"/>
                </a:solidFill>
              </a:rPr>
              <a:t> </a:t>
            </a:r>
          </a:p>
          <a:p>
            <a:pPr algn="ctr"/>
            <a:r>
              <a:rPr sz="800" b="0" i="0">
                <a:solidFill>
                  <a:srgbClr val="64748B"/>
                </a:solidFill>
              </a:rPr>
              <a:t>Générer sur :</a:t>
            </a:r>
          </a:p>
          <a:p>
            <a:pPr algn="ctr"/>
            <a:r>
              <a:rPr sz="800" b="0" i="0">
                <a:solidFill>
                  <a:srgbClr val="64748B"/>
                </a:solidFill>
              </a:rPr>
              <a:t>qr-code-generator.com</a:t>
            </a:r>
          </a:p>
          <a:p>
            <a:pPr algn="l"/>
            <a:r>
              <a:rPr sz="400" b="0" i="0">
                <a:solidFill>
                  <a:srgbClr val="0F172A"/>
                </a:solidFill>
              </a:rPr>
              <a:t> </a:t>
            </a:r>
          </a:p>
          <a:p>
            <a:pPr algn="ctr"/>
            <a:r>
              <a:rPr sz="700" b="0" i="0">
                <a:solidFill>
                  <a:srgbClr val="64748B"/>
                </a:solidFill>
              </a:rPr>
              <a:t>terroir.up.railway.app/#/live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34290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Essayez
maintenant 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5943600"/>
            <a:ext cx="4434840" cy="3657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52360" y="6053328"/>
            <a:ext cx="4434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BeninScope  ·  iSHEERO × DataCamp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524</Words>
  <Application>Microsoft Office PowerPoint</Application>
  <PresentationFormat>Custom</PresentationFormat>
  <Paragraphs>88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Carine AGBOTON</cp:lastModifiedBy>
  <cp:revision>2</cp:revision>
  <dcterms:created xsi:type="dcterms:W3CDTF">2013-01-27T09:14:16Z</dcterms:created>
  <dcterms:modified xsi:type="dcterms:W3CDTF">2026-05-29T09:13:18Z</dcterms:modified>
  <cp:category/>
</cp:coreProperties>
</file>